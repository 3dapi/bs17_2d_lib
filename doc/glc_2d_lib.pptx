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19" r:id="rId3"/>
    <p:sldId id="403" r:id="rId4"/>
    <p:sldId id="386" r:id="rId5"/>
    <p:sldId id="404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  <p:sldId id="413" r:id="rId15"/>
    <p:sldId id="414" r:id="rId16"/>
    <p:sldId id="416" r:id="rId17"/>
    <p:sldId id="415" r:id="rId18"/>
    <p:sldId id="417" r:id="rId19"/>
    <p:sldId id="388" r:id="rId20"/>
    <p:sldId id="428" r:id="rId21"/>
    <p:sldId id="426" r:id="rId22"/>
    <p:sldId id="419" r:id="rId23"/>
    <p:sldId id="418" r:id="rId24"/>
    <p:sldId id="420" r:id="rId25"/>
    <p:sldId id="421" r:id="rId26"/>
    <p:sldId id="422" r:id="rId27"/>
    <p:sldId id="423" r:id="rId28"/>
    <p:sldId id="424" r:id="rId29"/>
    <p:sldId id="425" r:id="rId30"/>
    <p:sldId id="427" r:id="rId31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가을체" panose="02030600000101010101" pitchFamily="18" charset="-127"/>
        <a:ea typeface="가을체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1008">
          <p15:clr>
            <a:srgbClr val="A4A3A4"/>
          </p15:clr>
        </p15:guide>
        <p15:guide id="5" pos="516">
          <p15:clr>
            <a:srgbClr val="A4A3A4"/>
          </p15:clr>
        </p15:guide>
        <p15:guide id="6" pos="3120">
          <p15:clr>
            <a:srgbClr val="A4A3A4"/>
          </p15:clr>
        </p15:guide>
        <p15:guide id="7" pos="4447">
          <p15:clr>
            <a:srgbClr val="A4A3A4"/>
          </p15:clr>
        </p15:guide>
        <p15:guide id="8" pos="1646">
          <p15:clr>
            <a:srgbClr val="A4A3A4"/>
          </p15:clr>
        </p15:guide>
        <p15:guide id="9" pos="762">
          <p15:clr>
            <a:srgbClr val="A4A3A4"/>
          </p15:clr>
        </p15:guide>
        <p15:guide id="10" pos="2088">
          <p15:clr>
            <a:srgbClr val="A4A3A4"/>
          </p15:clr>
        </p15:guide>
        <p15:guide id="11" pos="5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5FFE0"/>
    <a:srgbClr val="990000"/>
    <a:srgbClr val="0000FF"/>
    <a:srgbClr val="663300"/>
    <a:srgbClr val="6600FF"/>
    <a:srgbClr val="CCFFCC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9879" autoAdjust="0"/>
  </p:normalViewPr>
  <p:slideViewPr>
    <p:cSldViewPr>
      <p:cViewPr varScale="1">
        <p:scale>
          <a:sx n="127" d="100"/>
          <a:sy n="127" d="100"/>
        </p:scale>
        <p:origin x="1260" y="102"/>
      </p:cViewPr>
      <p:guideLst>
        <p:guide orient="horz" pos="663"/>
        <p:guide orient="horz" pos="890"/>
        <p:guide orient="horz" pos="1026"/>
        <p:guide pos="1008"/>
        <p:guide pos="516"/>
        <p:guide pos="3120"/>
        <p:guide pos="4447"/>
        <p:guide pos="1646"/>
        <p:guide pos="762"/>
        <p:guide pos="2088"/>
        <p:guide pos="5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4CA8683-641F-067B-9755-A3EB26498C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37AABC5-0B98-7E0E-E8F4-4BF051A65A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ECA08CCE-A35E-88C1-2E52-E791E5974F9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2909B5D0-481E-A2B6-9F7F-49B8FAA8EA5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27803189-A216-32C5-5A32-8374DFC02B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4A4AD720-076E-5D21-2781-748E03714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C8E64FA3-D3E8-45EB-B517-459421E9498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>
            <a:extLst>
              <a:ext uri="{FF2B5EF4-FFF2-40B4-BE49-F238E27FC236}">
                <a16:creationId xmlns:a16="http://schemas.microsoft.com/office/drawing/2014/main" id="{7A74F100-E49F-D2F1-9BC7-E0F7E8B50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695325"/>
            <a:ext cx="4953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4B7F8E4-ED5E-D2E4-CECB-05673A873B8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7A5544C6-A4BC-1B68-F0E9-E34D994BE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695325"/>
            <a:ext cx="4953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6964AE-0FFF-A8B5-039E-A9BB1CAB28D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08AEC860-4EF6-C1A0-B6EF-7D297B624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695325"/>
            <a:ext cx="4953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409C03D-5887-4F86-A052-ED55B9E4F86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78D461F-CB4B-CCA6-B94B-02FE873D2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592" y="1453803"/>
            <a:ext cx="7344816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6A9FBFD-5600-F49D-B470-A098F2B4E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592" y="3933478"/>
            <a:ext cx="7344816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6503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39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0799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84200" y="692150"/>
            <a:ext cx="4408488" cy="5832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692150"/>
            <a:ext cx="4410075" cy="5832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0948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111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4830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06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4536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1982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7746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13613" y="44450"/>
            <a:ext cx="224155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84200" y="44450"/>
            <a:ext cx="6577013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3391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4200" y="44450"/>
            <a:ext cx="8970963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84200" y="692150"/>
            <a:ext cx="4408488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45088" y="692150"/>
            <a:ext cx="4410075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8922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제목, 텍스트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4200" y="44450"/>
            <a:ext cx="8970963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84200" y="692150"/>
            <a:ext cx="4408488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145088" y="692150"/>
            <a:ext cx="4410075" cy="2840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5145088" y="3684588"/>
            <a:ext cx="4410075" cy="284003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3642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933585-C5EE-87DC-8639-2987E8E47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4200" y="44450"/>
            <a:ext cx="89709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D0E706-E8AB-598B-6FE2-3FA1B8CC3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4200" y="692150"/>
            <a:ext cx="8970963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2AB6803-9D21-E377-F3DB-3E3D7FA6AA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70750" y="44450"/>
            <a:ext cx="2597150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altLang="ko-KR" sz="1000" b="1" dirty="0">
                <a:solidFill>
                  <a:schemeClr val="bg2"/>
                </a:solidFill>
                <a:latin typeface="Bodoni MT Black" pitchFamily="18" charset="0"/>
                <a:ea typeface="HY헤드라인M" pitchFamily="18" charset="-127"/>
              </a:rPr>
              <a:t>GaLic</a:t>
            </a:r>
            <a:r>
              <a:rPr lang="en-US" altLang="ko-KR" sz="900" b="1" dirty="0">
                <a:solidFill>
                  <a:schemeClr val="bg2"/>
                </a:solidFill>
                <a:latin typeface="HY견고딕" pitchFamily="18" charset="-127"/>
                <a:ea typeface="HY견고딕" pitchFamily="18" charset="-127"/>
              </a:rPr>
              <a:t>.Heesung Oh</a:t>
            </a:r>
            <a:endParaRPr lang="en-US" altLang="ko-KR" sz="900" dirty="0">
              <a:solidFill>
                <a:schemeClr val="bg2"/>
              </a:solidFill>
              <a:latin typeface="HY견고딕" pitchFamily="18" charset="-127"/>
              <a:ea typeface="HY견고딕" pitchFamily="18" charset="-127"/>
            </a:endParaRPr>
          </a:p>
          <a:p>
            <a:pPr algn="r">
              <a:defRPr/>
            </a:pPr>
            <a:r>
              <a:rPr lang="en-US" altLang="ko-KR" sz="800" dirty="0">
                <a:solidFill>
                  <a:schemeClr val="bg2"/>
                </a:solidFill>
                <a:latin typeface="굴림" pitchFamily="50" charset="-127"/>
                <a:ea typeface="굴림" pitchFamily="50" charset="-127"/>
              </a:rPr>
              <a:t>2009, 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1F20A-3CA9-0633-E9B8-BC2AFFF7457E}"/>
              </a:ext>
            </a:extLst>
          </p:cNvPr>
          <p:cNvSpPr txBox="1"/>
          <p:nvPr userDrawn="1"/>
        </p:nvSpPr>
        <p:spPr>
          <a:xfrm>
            <a:off x="7946847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bg1"/>
          </a:solidFill>
          <a:latin typeface="가을체" pitchFamily="18" charset="-127"/>
          <a:ea typeface="가을체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itchFamily="2" charset="2"/>
        <a:buChar char="v"/>
        <a:defRPr kumimoji="1"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itchFamily="2" charset="2"/>
        <a:buChar char="v"/>
        <a:defRPr kumimoji="1"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itchFamily="2" charset="2"/>
        <a:buChar char="v"/>
        <a:defRPr kumimoji="1"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itchFamily="2" charset="2"/>
        <a:buChar char="v"/>
        <a:defRPr kumimoji="1"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3dapi/bs17_2d_lib/tree/master/gls2d_v0.1/nuget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BB31846-B042-19A4-7335-A072E81BE7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80592" y="1453803"/>
            <a:ext cx="7344816" cy="2387600"/>
          </a:xfrm>
        </p:spPr>
        <p:txBody>
          <a:bodyPr/>
          <a:lstStyle/>
          <a:p>
            <a:r>
              <a:rPr lang="en-US" altLang="ko-KR" dirty="0"/>
              <a:t>GLC2D Game Library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ko-KR" altLang="en-US" dirty="0"/>
              <a:t>사용한 </a:t>
            </a:r>
            <a:r>
              <a:rPr lang="en-US" altLang="ko-KR" dirty="0"/>
              <a:t>2D Game </a:t>
            </a:r>
            <a:r>
              <a:rPr lang="ko-KR" altLang="en-US" dirty="0"/>
              <a:t>제작</a:t>
            </a:r>
            <a:endParaRPr lang="en-US" altLang="ko-KR" dirty="0"/>
          </a:p>
        </p:txBody>
      </p:sp>
      <p:sp>
        <p:nvSpPr>
          <p:cNvPr id="12" name="부제목 11">
            <a:extLst>
              <a:ext uri="{FF2B5EF4-FFF2-40B4-BE49-F238E27FC236}">
                <a16:creationId xmlns:a16="http://schemas.microsoft.com/office/drawing/2014/main" id="{4381DF6B-5C08-8B21-78B2-8E50C6B173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C71DA5-A367-C684-8637-A1984F5762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0. </a:t>
            </a:r>
            <a:r>
              <a:rPr lang="ko-KR" altLang="en-US"/>
              <a:t>목차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6023BD9-DE5D-7DB1-AA9E-A4789B774EA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ko-KR" sz="3000" dirty="0"/>
              <a:t>Software Developing Flow</a:t>
            </a:r>
          </a:p>
          <a:p>
            <a:pPr eaLnBrk="1" hangingPunct="1"/>
            <a:endParaRPr lang="ko-KR" altLang="en-US" sz="3000" dirty="0"/>
          </a:p>
          <a:p>
            <a:pPr eaLnBrk="1" hangingPunct="1"/>
            <a:r>
              <a:rPr lang="en-US" altLang="ko-KR" sz="3000" dirty="0"/>
              <a:t>Introduction to Game Components</a:t>
            </a:r>
          </a:p>
          <a:p>
            <a:pPr eaLnBrk="1" hangingPunct="1"/>
            <a:endParaRPr lang="en-US" altLang="ko-KR" sz="3000" dirty="0"/>
          </a:p>
          <a:p>
            <a:pPr eaLnBrk="1" hangingPunct="1"/>
            <a:r>
              <a:rPr lang="en-US" altLang="ko-KR" sz="3000" dirty="0"/>
              <a:t>GLC2D Game Library</a:t>
            </a:r>
          </a:p>
          <a:p>
            <a:pPr lvl="1" eaLnBrk="1" hangingPunct="1"/>
            <a:r>
              <a:rPr lang="en-US" altLang="ko-KR" sz="2600" dirty="0"/>
              <a:t>glc2d System</a:t>
            </a:r>
          </a:p>
          <a:p>
            <a:pPr lvl="1" eaLnBrk="1" hangingPunct="1"/>
            <a:r>
              <a:rPr lang="en-US" altLang="ko-KR" sz="2600" dirty="0"/>
              <a:t>glc2d Texture</a:t>
            </a:r>
          </a:p>
          <a:p>
            <a:pPr lvl="1" eaLnBrk="1" hangingPunct="1"/>
            <a:r>
              <a:rPr lang="en-US" altLang="ko-KR" sz="2600" dirty="0"/>
              <a:t>glc2d Input</a:t>
            </a:r>
          </a:p>
          <a:p>
            <a:pPr lvl="1" eaLnBrk="1" hangingPunct="1"/>
            <a:r>
              <a:rPr lang="en-US" altLang="ko-KR" sz="2600" dirty="0"/>
              <a:t>glc2d Font</a:t>
            </a:r>
          </a:p>
          <a:p>
            <a:pPr lvl="1" eaLnBrk="1" hangingPunct="1"/>
            <a:r>
              <a:rPr lang="en-US" altLang="ko-KR" sz="2600" dirty="0"/>
              <a:t>glc2d Sound</a:t>
            </a:r>
            <a:endParaRPr lang="ko-KR" alt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082FA4B-2A5E-BFDA-F84F-9A735CC44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42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924175"/>
            <a:ext cx="1223963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099" name="Line 3">
            <a:extLst>
              <a:ext uri="{FF2B5EF4-FFF2-40B4-BE49-F238E27FC236}">
                <a16:creationId xmlns:a16="http://schemas.microsoft.com/office/drawing/2014/main" id="{9BD77F18-AB42-A5B9-9BBD-297E2F9CD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6775" y="3573463"/>
            <a:ext cx="5040313" cy="0"/>
          </a:xfrm>
          <a:prstGeom prst="line">
            <a:avLst/>
          </a:prstGeom>
          <a:noFill/>
          <a:ln w="38227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BBF11523-1751-5F6A-CEDF-771F9D192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2813" y="3078163"/>
            <a:ext cx="38290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latinLnBrk="0" hangingPunct="1">
              <a:spcBef>
                <a:spcPts val="1250"/>
              </a:spcBef>
              <a:buClr>
                <a:srgbClr val="000000"/>
              </a:buClr>
              <a:buSzPct val="100000"/>
              <a:buFont typeface="HY헤드라인M" panose="02030600000101010101" pitchFamily="18" charset="-127"/>
              <a:buNone/>
            </a:pPr>
            <a:r>
              <a:rPr kumimoji="0" lang="en-GB" altLang="ko-KR" b="1">
                <a:latin typeface="+mn-ea"/>
                <a:ea typeface="+mn-ea"/>
              </a:rPr>
              <a:t>Software </a:t>
            </a:r>
            <a:r>
              <a:rPr kumimoji="0" lang="en-US" altLang="ko-KR" b="1">
                <a:latin typeface="+mn-ea"/>
                <a:ea typeface="+mn-ea"/>
              </a:rPr>
              <a:t>Developing Flow</a:t>
            </a:r>
            <a:endParaRPr kumimoji="0" lang="ko-KR" altLang="en-GB" b="1">
              <a:latin typeface="+mn-ea"/>
              <a:ea typeface="+mn-ea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01448F54-7185-96F1-3BA8-1791B6E81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813" y="3068638"/>
            <a:ext cx="1512887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latinLnBrk="0" hangingPunct="1">
              <a:spcBef>
                <a:spcPts val="1500"/>
              </a:spcBef>
              <a:buClr>
                <a:srgbClr val="333399"/>
              </a:buClr>
              <a:buSzPct val="100000"/>
              <a:buFont typeface="HY타자전각M" pitchFamily="18" charset="-127"/>
              <a:buNone/>
            </a:pPr>
            <a:r>
              <a:rPr kumimoji="0" lang="en-GB" altLang="ko-KR" sz="2800" b="1">
                <a:solidFill>
                  <a:srgbClr val="333399"/>
                </a:solidFill>
                <a:latin typeface="+mn-ea"/>
                <a:ea typeface="+mn-ea"/>
              </a:rPr>
              <a:t>PART 1.</a:t>
            </a:r>
            <a:r>
              <a:rPr kumimoji="0" lang="en-GB" altLang="ko-KR" sz="2800" b="1">
                <a:solidFill>
                  <a:srgbClr val="000000"/>
                </a:solidFill>
                <a:latin typeface="+mn-ea"/>
                <a:ea typeface="+mn-ea"/>
              </a:rPr>
              <a:t>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9BDBCF-D94F-3F0E-2F26-ACDC63C057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1.2 Software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Developing Flow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5123" name="AutoShape 4">
            <a:extLst>
              <a:ext uri="{FF2B5EF4-FFF2-40B4-BE49-F238E27FC236}">
                <a16:creationId xmlns:a16="http://schemas.microsoft.com/office/drawing/2014/main" id="{E028542D-E206-70BB-B569-46F813058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1270000"/>
            <a:ext cx="1584325" cy="5048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계획</a:t>
            </a:r>
          </a:p>
        </p:txBody>
      </p:sp>
      <p:sp>
        <p:nvSpPr>
          <p:cNvPr id="5124" name="AutoShape 5">
            <a:extLst>
              <a:ext uri="{FF2B5EF4-FFF2-40B4-BE49-F238E27FC236}">
                <a16:creationId xmlns:a16="http://schemas.microsoft.com/office/drawing/2014/main" id="{6478C652-95FD-C7B4-65E4-2D94B35EA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2420938"/>
            <a:ext cx="1584325" cy="5048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분석</a:t>
            </a:r>
          </a:p>
        </p:txBody>
      </p:sp>
      <p:sp>
        <p:nvSpPr>
          <p:cNvPr id="5125" name="AutoShape 6">
            <a:extLst>
              <a:ext uri="{FF2B5EF4-FFF2-40B4-BE49-F238E27FC236}">
                <a16:creationId xmlns:a16="http://schemas.microsoft.com/office/drawing/2014/main" id="{6CCA9733-9369-4124-A445-107578517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3644900"/>
            <a:ext cx="1584325" cy="5048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설계</a:t>
            </a:r>
          </a:p>
        </p:txBody>
      </p:sp>
      <p:sp>
        <p:nvSpPr>
          <p:cNvPr id="5126" name="AutoShape 7">
            <a:extLst>
              <a:ext uri="{FF2B5EF4-FFF2-40B4-BE49-F238E27FC236}">
                <a16:creationId xmlns:a16="http://schemas.microsoft.com/office/drawing/2014/main" id="{7D93C5CB-CB21-72FF-C3DD-8EF9D568E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4833938"/>
            <a:ext cx="1584325" cy="11144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구현</a:t>
            </a:r>
          </a:p>
        </p:txBody>
      </p:sp>
      <p:sp>
        <p:nvSpPr>
          <p:cNvPr id="5127" name="AutoShape 8">
            <a:extLst>
              <a:ext uri="{FF2B5EF4-FFF2-40B4-BE49-F238E27FC236}">
                <a16:creationId xmlns:a16="http://schemas.microsoft.com/office/drawing/2014/main" id="{ADBF7C8F-1DAE-0113-A8E9-92C4032F4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4833938"/>
            <a:ext cx="1727200" cy="11144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단위 </a:t>
            </a:r>
            <a:r>
              <a:rPr lang="en-US" altLang="ko-KR" b="1">
                <a:latin typeface="+mn-ea"/>
                <a:ea typeface="+mn-ea"/>
              </a:rPr>
              <a:t>Test</a:t>
            </a:r>
          </a:p>
          <a:p>
            <a:pPr algn="ctr" eaLnBrk="1" hangingPunct="1"/>
            <a:r>
              <a:rPr lang="en-US" altLang="ko-KR" b="1">
                <a:latin typeface="+mn-ea"/>
                <a:ea typeface="+mn-ea"/>
              </a:rPr>
              <a:t>Alpha Test</a:t>
            </a:r>
          </a:p>
        </p:txBody>
      </p:sp>
      <p:sp>
        <p:nvSpPr>
          <p:cNvPr id="5128" name="AutoShape 9">
            <a:extLst>
              <a:ext uri="{FF2B5EF4-FFF2-40B4-BE49-F238E27FC236}">
                <a16:creationId xmlns:a16="http://schemas.microsoft.com/office/drawing/2014/main" id="{F1014B75-EF80-0B71-40D6-4E69E496A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363" y="3644900"/>
            <a:ext cx="1727200" cy="5048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b="1">
                <a:latin typeface="+mn-ea"/>
                <a:ea typeface="+mn-ea"/>
              </a:rPr>
              <a:t>Beta Test</a:t>
            </a:r>
          </a:p>
        </p:txBody>
      </p:sp>
      <p:sp>
        <p:nvSpPr>
          <p:cNvPr id="5129" name="AutoShape 10">
            <a:extLst>
              <a:ext uri="{FF2B5EF4-FFF2-40B4-BE49-F238E27FC236}">
                <a16:creationId xmlns:a16="http://schemas.microsoft.com/office/drawing/2014/main" id="{3F89269F-12D9-2DEA-3872-A87F646CF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063" y="2420938"/>
            <a:ext cx="1727200" cy="5048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출시</a:t>
            </a:r>
            <a:r>
              <a:rPr lang="en-US" altLang="ko-KR" b="1">
                <a:latin typeface="+mn-ea"/>
                <a:ea typeface="+mn-ea"/>
              </a:rPr>
              <a:t>, </a:t>
            </a:r>
            <a:r>
              <a:rPr lang="ko-KR" altLang="en-US" b="1">
                <a:latin typeface="+mn-ea"/>
                <a:ea typeface="+mn-ea"/>
              </a:rPr>
              <a:t>배포</a:t>
            </a:r>
          </a:p>
        </p:txBody>
      </p:sp>
      <p:sp>
        <p:nvSpPr>
          <p:cNvPr id="5130" name="AutoShape 11">
            <a:extLst>
              <a:ext uri="{FF2B5EF4-FFF2-40B4-BE49-F238E27FC236}">
                <a16:creationId xmlns:a16="http://schemas.microsoft.com/office/drawing/2014/main" id="{58E42328-A41D-7FE6-FE00-73EC41739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0" y="1268413"/>
            <a:ext cx="1727200" cy="504825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b="1">
                <a:latin typeface="+mn-ea"/>
                <a:ea typeface="+mn-ea"/>
              </a:rPr>
              <a:t>유지 보수</a:t>
            </a:r>
          </a:p>
        </p:txBody>
      </p:sp>
      <p:sp>
        <p:nvSpPr>
          <p:cNvPr id="5131" name="AutoShape 13">
            <a:extLst>
              <a:ext uri="{FF2B5EF4-FFF2-40B4-BE49-F238E27FC236}">
                <a16:creationId xmlns:a16="http://schemas.microsoft.com/office/drawing/2014/main" id="{3DE47A91-65DC-4225-0675-FE9ECC65C11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123890" y="5551488"/>
            <a:ext cx="1170434" cy="463846"/>
          </a:xfrm>
          <a:prstGeom prst="curvedDownArrow">
            <a:avLst>
              <a:gd name="adj1" fmla="val 62965"/>
              <a:gd name="adj2" fmla="val 125931"/>
              <a:gd name="adj3" fmla="val 33333"/>
            </a:avLst>
          </a:pr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2" name="AutoShape 15">
            <a:extLst>
              <a:ext uri="{FF2B5EF4-FFF2-40B4-BE49-F238E27FC236}">
                <a16:creationId xmlns:a16="http://schemas.microsoft.com/office/drawing/2014/main" id="{E7C2A91E-F5EC-CCC8-2AEE-94D5BB371CA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789113" y="1250688"/>
            <a:ext cx="503237" cy="1567387"/>
          </a:xfrm>
          <a:custGeom>
            <a:avLst/>
            <a:gdLst>
              <a:gd name="T0" fmla="*/ 191284928 w 21600"/>
              <a:gd name="T1" fmla="*/ 0 h 21600"/>
              <a:gd name="T2" fmla="*/ 191284928 w 21600"/>
              <a:gd name="T3" fmla="*/ 153751941 h 21600"/>
              <a:gd name="T4" fmla="*/ 40935601 w 21600"/>
              <a:gd name="T5" fmla="*/ 273156665 h 21600"/>
              <a:gd name="T6" fmla="*/ 273155547 w 21600"/>
              <a:gd name="T7" fmla="*/ 76875971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3" name="AutoShape 16">
            <a:extLst>
              <a:ext uri="{FF2B5EF4-FFF2-40B4-BE49-F238E27FC236}">
                <a16:creationId xmlns:a16="http://schemas.microsoft.com/office/drawing/2014/main" id="{7557D897-B509-4F1E-8132-F2B1CA226B8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416175" y="2458776"/>
            <a:ext cx="503238" cy="1567387"/>
          </a:xfrm>
          <a:custGeom>
            <a:avLst/>
            <a:gdLst>
              <a:gd name="T0" fmla="*/ 191285680 w 21600"/>
              <a:gd name="T1" fmla="*/ 0 h 21600"/>
              <a:gd name="T2" fmla="*/ 191285680 w 21600"/>
              <a:gd name="T3" fmla="*/ 153751408 h 21600"/>
              <a:gd name="T4" fmla="*/ 40935752 w 21600"/>
              <a:gd name="T5" fmla="*/ 273156090 h 21600"/>
              <a:gd name="T6" fmla="*/ 273157208 w 21600"/>
              <a:gd name="T7" fmla="*/ 76875984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4" name="AutoShape 17">
            <a:extLst>
              <a:ext uri="{FF2B5EF4-FFF2-40B4-BE49-F238E27FC236}">
                <a16:creationId xmlns:a16="http://schemas.microsoft.com/office/drawing/2014/main" id="{91DF9D8E-631A-5EA2-6664-E0D76CDFC4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32113" y="3679563"/>
            <a:ext cx="503237" cy="1567387"/>
          </a:xfrm>
          <a:custGeom>
            <a:avLst/>
            <a:gdLst>
              <a:gd name="T0" fmla="*/ 191284928 w 21600"/>
              <a:gd name="T1" fmla="*/ 0 h 21600"/>
              <a:gd name="T2" fmla="*/ 191284928 w 21600"/>
              <a:gd name="T3" fmla="*/ 153751103 h 21600"/>
              <a:gd name="T4" fmla="*/ 40935601 w 21600"/>
              <a:gd name="T5" fmla="*/ 273155547 h 21600"/>
              <a:gd name="T6" fmla="*/ 273155547 w 21600"/>
              <a:gd name="T7" fmla="*/ 76875831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5" name="AutoShape 72">
            <a:extLst>
              <a:ext uri="{FF2B5EF4-FFF2-40B4-BE49-F238E27FC236}">
                <a16:creationId xmlns:a16="http://schemas.microsoft.com/office/drawing/2014/main" id="{76F104ED-EE33-2A92-8809-A69674599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2038" y="3543038"/>
            <a:ext cx="504825" cy="1567387"/>
          </a:xfrm>
          <a:custGeom>
            <a:avLst/>
            <a:gdLst>
              <a:gd name="T0" fmla="*/ 193101523 w 21600"/>
              <a:gd name="T1" fmla="*/ 0 h 21600"/>
              <a:gd name="T2" fmla="*/ 193101523 w 21600"/>
              <a:gd name="T3" fmla="*/ 153751103 h 21600"/>
              <a:gd name="T4" fmla="*/ 41324364 w 21600"/>
              <a:gd name="T5" fmla="*/ 273155547 h 21600"/>
              <a:gd name="T6" fmla="*/ 275749619 w 21600"/>
              <a:gd name="T7" fmla="*/ 76875831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6" name="AutoShape 73">
            <a:extLst>
              <a:ext uri="{FF2B5EF4-FFF2-40B4-BE49-F238E27FC236}">
                <a16:creationId xmlns:a16="http://schemas.microsoft.com/office/drawing/2014/main" id="{9F9BD6EA-AC4B-A10B-6322-3F1816083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2392101"/>
            <a:ext cx="504825" cy="1567387"/>
          </a:xfrm>
          <a:custGeom>
            <a:avLst/>
            <a:gdLst>
              <a:gd name="T0" fmla="*/ 193101523 w 21600"/>
              <a:gd name="T1" fmla="*/ 0 h 21600"/>
              <a:gd name="T2" fmla="*/ 193101523 w 21600"/>
              <a:gd name="T3" fmla="*/ 153752247 h 21600"/>
              <a:gd name="T4" fmla="*/ 41324364 w 21600"/>
              <a:gd name="T5" fmla="*/ 273157208 h 21600"/>
              <a:gd name="T6" fmla="*/ 275749619 w 21600"/>
              <a:gd name="T7" fmla="*/ 76876123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7" name="AutoShape 74">
            <a:extLst>
              <a:ext uri="{FF2B5EF4-FFF2-40B4-BE49-F238E27FC236}">
                <a16:creationId xmlns:a16="http://schemas.microsoft.com/office/drawing/2014/main" id="{1B7AE1A1-4B30-511D-05A8-91FB37CD6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168138"/>
            <a:ext cx="504825" cy="1567387"/>
          </a:xfrm>
          <a:custGeom>
            <a:avLst/>
            <a:gdLst>
              <a:gd name="T0" fmla="*/ 193101523 w 21600"/>
              <a:gd name="T1" fmla="*/ 0 h 21600"/>
              <a:gd name="T2" fmla="*/ 193101523 w 21600"/>
              <a:gd name="T3" fmla="*/ 153751103 h 21600"/>
              <a:gd name="T4" fmla="*/ 41324364 w 21600"/>
              <a:gd name="T5" fmla="*/ 273155547 h 21600"/>
              <a:gd name="T6" fmla="*/ 275749619 w 21600"/>
              <a:gd name="T7" fmla="*/ 76875831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sp>
        <p:nvSpPr>
          <p:cNvPr id="5138" name="AutoShape 12">
            <a:extLst>
              <a:ext uri="{FF2B5EF4-FFF2-40B4-BE49-F238E27FC236}">
                <a16:creationId xmlns:a16="http://schemas.microsoft.com/office/drawing/2014/main" id="{24DE3A2C-E25E-E554-5670-2B62E38C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76" y="4833938"/>
            <a:ext cx="1170434" cy="463846"/>
          </a:xfrm>
          <a:prstGeom prst="curvedDownArrow">
            <a:avLst>
              <a:gd name="adj1" fmla="val 62965"/>
              <a:gd name="adj2" fmla="val 125931"/>
              <a:gd name="adj3" fmla="val 33333"/>
            </a:avLst>
          </a:prstGeom>
          <a:solidFill>
            <a:srgbClr val="FFFF00"/>
          </a:solidFill>
          <a:ln w="19050">
            <a:solidFill>
              <a:srgbClr val="003366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eaLnBrk="1" hangingPunct="1"/>
            <a:endParaRPr lang="ko-KR" altLang="en-US">
              <a:latin typeface="+mn-ea"/>
              <a:ea typeface="+mn-ea"/>
            </a:endParaRPr>
          </a:p>
        </p:txBody>
      </p:sp>
      <p:cxnSp>
        <p:nvCxnSpPr>
          <p:cNvPr id="5139" name="AutoShape 77">
            <a:extLst>
              <a:ext uri="{FF2B5EF4-FFF2-40B4-BE49-F238E27FC236}">
                <a16:creationId xmlns:a16="http://schemas.microsoft.com/office/drawing/2014/main" id="{2F50BFE2-0486-072B-61E4-CC970986BC8F}"/>
              </a:ext>
            </a:extLst>
          </p:cNvPr>
          <p:cNvCxnSpPr>
            <a:cxnSpLocks noChangeShapeType="1"/>
            <a:stCxn id="5127" idx="0"/>
            <a:endCxn id="5125" idx="3"/>
          </p:cNvCxnSpPr>
          <p:nvPr/>
        </p:nvCxnSpPr>
        <p:spPr bwMode="auto">
          <a:xfrm rot="16200000" flipV="1">
            <a:off x="4127500" y="2678113"/>
            <a:ext cx="936625" cy="3375025"/>
          </a:xfrm>
          <a:prstGeom prst="straightConnector1">
            <a:avLst/>
          </a:prstGeom>
          <a:noFill/>
          <a:ln w="19050" cap="rnd">
            <a:solidFill>
              <a:srgbClr val="800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0" name="AutoShape 78">
            <a:extLst>
              <a:ext uri="{FF2B5EF4-FFF2-40B4-BE49-F238E27FC236}">
                <a16:creationId xmlns:a16="http://schemas.microsoft.com/office/drawing/2014/main" id="{5167807A-E3D2-B411-15CA-51A5A2FAE740}"/>
              </a:ext>
            </a:extLst>
          </p:cNvPr>
          <p:cNvCxnSpPr>
            <a:cxnSpLocks noChangeShapeType="1"/>
            <a:stCxn id="5127" idx="0"/>
            <a:endCxn id="5124" idx="3"/>
          </p:cNvCxnSpPr>
          <p:nvPr/>
        </p:nvCxnSpPr>
        <p:spPr bwMode="auto">
          <a:xfrm rot="16200000" flipV="1">
            <a:off x="3225006" y="1775619"/>
            <a:ext cx="2160588" cy="3956050"/>
          </a:xfrm>
          <a:prstGeom prst="straightConnector1">
            <a:avLst/>
          </a:prstGeom>
          <a:noFill/>
          <a:ln w="19050" cap="rnd">
            <a:solidFill>
              <a:srgbClr val="FF0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1" name="AutoShape 79">
            <a:extLst>
              <a:ext uri="{FF2B5EF4-FFF2-40B4-BE49-F238E27FC236}">
                <a16:creationId xmlns:a16="http://schemas.microsoft.com/office/drawing/2014/main" id="{B4060421-E2AE-8251-E756-863F2D4F625B}"/>
              </a:ext>
            </a:extLst>
          </p:cNvPr>
          <p:cNvCxnSpPr>
            <a:cxnSpLocks noChangeShapeType="1"/>
            <a:stCxn id="5128" idx="1"/>
            <a:endCxn id="5124" idx="3"/>
          </p:cNvCxnSpPr>
          <p:nvPr/>
        </p:nvCxnSpPr>
        <p:spPr bwMode="auto">
          <a:xfrm rot="10800000">
            <a:off x="2327275" y="2673350"/>
            <a:ext cx="4510088" cy="1223963"/>
          </a:xfrm>
          <a:prstGeom prst="straightConnector1">
            <a:avLst/>
          </a:prstGeom>
          <a:noFill/>
          <a:ln w="19050" cap="rnd">
            <a:solidFill>
              <a:srgbClr val="FF0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2" name="AutoShape 80">
            <a:extLst>
              <a:ext uri="{FF2B5EF4-FFF2-40B4-BE49-F238E27FC236}">
                <a16:creationId xmlns:a16="http://schemas.microsoft.com/office/drawing/2014/main" id="{5DE96F46-B3E6-77DD-A732-54AFBF69DEC7}"/>
              </a:ext>
            </a:extLst>
          </p:cNvPr>
          <p:cNvCxnSpPr>
            <a:cxnSpLocks noChangeShapeType="1"/>
            <a:stCxn id="5128" idx="1"/>
            <a:endCxn id="5125" idx="3"/>
          </p:cNvCxnSpPr>
          <p:nvPr/>
        </p:nvCxnSpPr>
        <p:spPr bwMode="auto">
          <a:xfrm rot="10800000">
            <a:off x="2908300" y="3897313"/>
            <a:ext cx="3929063" cy="1587"/>
          </a:xfrm>
          <a:prstGeom prst="straightConnector1">
            <a:avLst/>
          </a:prstGeom>
          <a:noFill/>
          <a:ln w="19050" cap="rnd">
            <a:solidFill>
              <a:srgbClr val="800000"/>
            </a:solidFill>
            <a:prstDash val="sysDot"/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43" name="모서리가 둥근 사각형 설명선 24">
            <a:extLst>
              <a:ext uri="{FF2B5EF4-FFF2-40B4-BE49-F238E27FC236}">
                <a16:creationId xmlns:a16="http://schemas.microsoft.com/office/drawing/2014/main" id="{FD414418-59F2-9E47-7A9E-0D5B2212F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0" y="1428750"/>
            <a:ext cx="1428750" cy="717550"/>
          </a:xfrm>
          <a:prstGeom prst="wedgeRoundRectCallout">
            <a:avLst>
              <a:gd name="adj1" fmla="val -13778"/>
              <a:gd name="adj2" fmla="val 155431"/>
              <a:gd name="adj3" fmla="val 16667"/>
            </a:avLst>
          </a:prstGeom>
          <a:solidFill>
            <a:srgbClr val="FFFF00">
              <a:alpha val="16078"/>
            </a:srgbClr>
          </a:solidFill>
          <a:ln w="15875" cap="rnd" algn="ctr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sz="1800" b="1">
                <a:latin typeface="+mn-ea"/>
                <a:ea typeface="+mn-ea"/>
              </a:rPr>
              <a:t>기획적 </a:t>
            </a:r>
            <a:r>
              <a:rPr lang="en-US" altLang="ko-KR" sz="1800" b="1">
                <a:latin typeface="+mn-ea"/>
                <a:ea typeface="+mn-ea"/>
              </a:rPr>
              <a:t>Error</a:t>
            </a:r>
            <a:endParaRPr lang="ko-KR" altLang="en-US" sz="1800">
              <a:latin typeface="+mn-ea"/>
              <a:ea typeface="+mn-ea"/>
            </a:endParaRPr>
          </a:p>
        </p:txBody>
      </p:sp>
      <p:sp>
        <p:nvSpPr>
          <p:cNvPr id="5144" name="모서리가 둥근 사각형 설명선 25">
            <a:extLst>
              <a:ext uri="{FF2B5EF4-FFF2-40B4-BE49-F238E27FC236}">
                <a16:creationId xmlns:a16="http://schemas.microsoft.com/office/drawing/2014/main" id="{39C22603-DCBF-7735-F658-F5D949B1A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2214563"/>
            <a:ext cx="1571625" cy="717550"/>
          </a:xfrm>
          <a:prstGeom prst="wedgeRoundRectCallout">
            <a:avLst>
              <a:gd name="adj1" fmla="val -33935"/>
              <a:gd name="adj2" fmla="val 181454"/>
              <a:gd name="adj3" fmla="val 16667"/>
            </a:avLst>
          </a:prstGeom>
          <a:solidFill>
            <a:srgbClr val="FFFF00">
              <a:alpha val="21176"/>
            </a:srgbClr>
          </a:solidFill>
          <a:ln w="15875" cap="rnd" algn="ctr">
            <a:solidFill>
              <a:srgbClr val="C00000"/>
            </a:solidFill>
            <a:prstDash val="sysDot"/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ko-KR" altLang="en-US" sz="1800" b="1">
                <a:latin typeface="+mn-ea"/>
                <a:ea typeface="+mn-ea"/>
              </a:rPr>
              <a:t>시스템 설계 </a:t>
            </a:r>
            <a:r>
              <a:rPr lang="en-US" altLang="ko-KR" sz="1800" b="1">
                <a:latin typeface="+mn-ea"/>
                <a:ea typeface="+mn-ea"/>
              </a:rPr>
              <a:t>Error</a:t>
            </a:r>
            <a:endParaRPr lang="ko-KR" altLang="en-US" sz="180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5E90F6B-D339-63FF-CC27-90E3D8F10E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</a:rPr>
              <a:t>1.2 Software </a:t>
            </a:r>
            <a:r>
              <a:rPr kumimoji="0" lang="en-US" altLang="ko-KR">
                <a:solidFill>
                  <a:srgbClr val="FFFFFF"/>
                </a:solidFill>
              </a:rPr>
              <a:t>Developing Flow</a:t>
            </a:r>
            <a:endParaRPr kumimoji="0" lang="ko-KR" altLang="en-US">
              <a:solidFill>
                <a:srgbClr val="FFFFFF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995FAF-FDC1-2AE7-066D-5E86BAB865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계획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개발 내용 계획</a:t>
            </a:r>
            <a:r>
              <a:rPr lang="en-US" altLang="ko-KR"/>
              <a:t>: </a:t>
            </a:r>
            <a:r>
              <a:rPr lang="ko-KR" altLang="en-US"/>
              <a:t>기술적인 이슈와 개발 업무 계획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비용 계획</a:t>
            </a:r>
            <a:r>
              <a:rPr lang="en-US" altLang="ko-KR"/>
              <a:t>: </a:t>
            </a:r>
            <a:r>
              <a:rPr lang="ko-KR" altLang="en-US"/>
              <a:t>시간</a:t>
            </a:r>
            <a:r>
              <a:rPr lang="en-US" altLang="ko-KR"/>
              <a:t>, </a:t>
            </a:r>
            <a:r>
              <a:rPr lang="ko-KR" altLang="en-US"/>
              <a:t>인원 등의 소요 비용 산정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조직 계획</a:t>
            </a:r>
            <a:r>
              <a:rPr lang="en-US" altLang="ko-KR"/>
              <a:t>: </a:t>
            </a:r>
            <a:r>
              <a:rPr lang="ko-KR" altLang="en-US"/>
              <a:t>개발 팀 구성 및 역할 배정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제안서</a:t>
            </a:r>
            <a:r>
              <a:rPr lang="en-US" altLang="ko-KR"/>
              <a:t> </a:t>
            </a:r>
            <a:r>
              <a:rPr lang="ko-KR" altLang="en-US"/>
              <a:t>작성</a:t>
            </a:r>
          </a:p>
          <a:p>
            <a:pPr lvl="4">
              <a:lnSpc>
                <a:spcPct val="90000"/>
              </a:lnSpc>
            </a:pPr>
            <a:endParaRPr lang="ko-KR" altLang="en-US"/>
          </a:p>
          <a:p>
            <a:pPr>
              <a:lnSpc>
                <a:spcPct val="90000"/>
              </a:lnSpc>
            </a:pPr>
            <a:r>
              <a:rPr lang="ko-KR" altLang="en-US"/>
              <a:t>분석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Domain </a:t>
            </a:r>
            <a:r>
              <a:rPr lang="ko-KR" altLang="en-US"/>
              <a:t>분석</a:t>
            </a:r>
            <a:r>
              <a:rPr lang="en-US" altLang="ko-KR"/>
              <a:t>: </a:t>
            </a:r>
            <a:r>
              <a:rPr lang="ko-KR" altLang="en-US"/>
              <a:t>객체 정의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관계 설정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추상화</a:t>
            </a:r>
            <a:endParaRPr lang="ko-KR" altLang="en-US"/>
          </a:p>
          <a:p>
            <a:pPr lvl="1">
              <a:lnSpc>
                <a:spcPct val="90000"/>
              </a:lnSpc>
            </a:pPr>
            <a:r>
              <a:rPr lang="en-US" altLang="ko-KR"/>
              <a:t>Play</a:t>
            </a:r>
            <a:r>
              <a:rPr lang="ko-KR" altLang="en-US"/>
              <a:t> 분석</a:t>
            </a:r>
            <a:r>
              <a:rPr lang="en-US" altLang="ko-KR"/>
              <a:t>: </a:t>
            </a:r>
            <a:r>
              <a:rPr lang="ko-KR" altLang="en-US"/>
              <a:t>실행 흐름 작성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그래픽 </a:t>
            </a:r>
            <a:r>
              <a:rPr lang="en-US" altLang="ko-KR"/>
              <a:t>Concept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/>
              <a:t>Game </a:t>
            </a:r>
            <a:r>
              <a:rPr lang="ko-KR" altLang="en-US"/>
              <a:t>데이터 설정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상세 기획 작성</a:t>
            </a:r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D48A183-FF16-72A7-4D81-645BC22703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1.2 Software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Developing Flow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8A8ED9F-F694-8EC6-CBC2-9D68BD6E45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>
                <a:latin typeface="+mn-ea"/>
              </a:rPr>
              <a:t>게임 시스템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자료구조 설계</a:t>
            </a:r>
          </a:p>
          <a:p>
            <a:pPr lvl="1"/>
            <a:r>
              <a:rPr lang="ko-KR" altLang="en-US">
                <a:latin typeface="+mn-ea"/>
              </a:rPr>
              <a:t>공통 모듈</a:t>
            </a:r>
            <a:r>
              <a:rPr lang="en-US" altLang="ko-KR">
                <a:latin typeface="+mn-ea"/>
              </a:rPr>
              <a:t>: </a:t>
            </a:r>
            <a:r>
              <a:rPr lang="ko-KR" altLang="en-US">
                <a:latin typeface="+mn-ea"/>
              </a:rPr>
              <a:t>툴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컨텐츠 등에서 공통으로 사용할 모듈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렌더링 머신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장면 관리자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네트워크 입출력</a:t>
            </a:r>
            <a:endParaRPr lang="en-US" altLang="ko-KR">
              <a:latin typeface="+mn-ea"/>
            </a:endParaRPr>
          </a:p>
          <a:p>
            <a:pPr lvl="1"/>
            <a:r>
              <a:rPr lang="en-US" altLang="ko-KR">
                <a:latin typeface="+mn-ea"/>
              </a:rPr>
              <a:t>Database </a:t>
            </a:r>
            <a:r>
              <a:rPr lang="ko-KR" altLang="en-US">
                <a:latin typeface="+mn-ea"/>
              </a:rPr>
              <a:t>설계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입력장치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미디어 플레이 인터페이스 설계</a:t>
            </a:r>
            <a:endParaRPr lang="en-US" altLang="ko-KR">
              <a:latin typeface="+mn-ea"/>
            </a:endParaRPr>
          </a:p>
          <a:p>
            <a:pPr lvl="1"/>
            <a:endParaRPr lang="ko-KR" altLang="en-US">
              <a:latin typeface="+mn-ea"/>
            </a:endParaRPr>
          </a:p>
          <a:p>
            <a:r>
              <a:rPr lang="ko-KR" altLang="en-US">
                <a:latin typeface="+mn-ea"/>
              </a:rPr>
              <a:t>게임 엔진 설계</a:t>
            </a:r>
          </a:p>
          <a:p>
            <a:pPr lvl="1"/>
            <a:r>
              <a:rPr lang="ko-KR" altLang="en-US">
                <a:latin typeface="+mn-ea"/>
              </a:rPr>
              <a:t>지형 엔진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물리 엔진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그래픽 플러그인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캐릭터 애니메이션</a:t>
            </a:r>
            <a:endParaRPr lang="en-US" altLang="ko-KR">
              <a:latin typeface="+mn-ea"/>
            </a:endParaRPr>
          </a:p>
          <a:p>
            <a:pPr lvl="1"/>
            <a:r>
              <a:rPr lang="en-US" altLang="ko-KR">
                <a:latin typeface="+mn-ea"/>
              </a:rPr>
              <a:t>GUI, </a:t>
            </a:r>
            <a:r>
              <a:rPr lang="ko-KR" altLang="en-US">
                <a:latin typeface="+mn-ea"/>
              </a:rPr>
              <a:t>스크립트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136AC15-B343-488C-1512-446CB73E66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1.2 Software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Developing Flow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8DB6760-FD13-0507-6200-5CC0FA2619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>
                <a:latin typeface="+mn-ea"/>
              </a:rPr>
              <a:t>툴 프로그램 구현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리소스 관리 툴</a:t>
            </a:r>
          </a:p>
          <a:p>
            <a:pPr lvl="1"/>
            <a:r>
              <a:rPr lang="ko-KR" altLang="en-US">
                <a:latin typeface="+mn-ea"/>
              </a:rPr>
              <a:t>지형 툴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캐릭터 툴</a:t>
            </a:r>
          </a:p>
          <a:p>
            <a:pPr lvl="1"/>
            <a:r>
              <a:rPr lang="en-US" altLang="ko-KR">
                <a:latin typeface="+mn-ea"/>
              </a:rPr>
              <a:t>Effect, GUI </a:t>
            </a:r>
            <a:r>
              <a:rPr lang="ko-KR" altLang="en-US">
                <a:latin typeface="+mn-ea"/>
              </a:rPr>
              <a:t>툴</a:t>
            </a:r>
            <a:endParaRPr lang="en-US" altLang="ko-KR">
              <a:latin typeface="+mn-ea"/>
            </a:endParaRPr>
          </a:p>
          <a:p>
            <a:pPr lvl="4"/>
            <a:endParaRPr lang="ko-KR" altLang="en-US">
              <a:latin typeface="+mn-ea"/>
            </a:endParaRPr>
          </a:p>
          <a:p>
            <a:r>
              <a:rPr lang="ko-KR" altLang="en-US">
                <a:latin typeface="+mn-ea"/>
              </a:rPr>
              <a:t>컨텐츠 구현</a:t>
            </a:r>
          </a:p>
          <a:p>
            <a:pPr lvl="1"/>
            <a:r>
              <a:rPr lang="ko-KR" altLang="en-US">
                <a:latin typeface="+mn-ea"/>
              </a:rPr>
              <a:t>네트워크 입출력 데이터 형식 결정</a:t>
            </a:r>
          </a:p>
          <a:p>
            <a:pPr lvl="1"/>
            <a:r>
              <a:rPr lang="ko-KR" altLang="en-US">
                <a:latin typeface="+mn-ea"/>
              </a:rPr>
              <a:t>게임 플레이 위상 구현</a:t>
            </a:r>
          </a:p>
          <a:p>
            <a:pPr lvl="1"/>
            <a:r>
              <a:rPr lang="ko-KR" altLang="en-US">
                <a:latin typeface="+mn-ea"/>
              </a:rPr>
              <a:t>렌더링 </a:t>
            </a:r>
            <a:r>
              <a:rPr lang="en-US" altLang="ko-KR">
                <a:latin typeface="+mn-ea"/>
              </a:rPr>
              <a:t>pass</a:t>
            </a:r>
            <a:r>
              <a:rPr lang="ko-KR" altLang="en-US">
                <a:latin typeface="+mn-ea"/>
              </a:rPr>
              <a:t> 구현</a:t>
            </a:r>
          </a:p>
          <a:p>
            <a:pPr lvl="1"/>
            <a:r>
              <a:rPr lang="en-US" altLang="ko-KR">
                <a:latin typeface="+mn-ea"/>
              </a:rPr>
              <a:t>AI </a:t>
            </a:r>
            <a:r>
              <a:rPr lang="ko-KR" altLang="en-US">
                <a:latin typeface="+mn-ea"/>
              </a:rPr>
              <a:t>구현</a:t>
            </a:r>
          </a:p>
          <a:p>
            <a:pPr lvl="1"/>
            <a:r>
              <a:rPr lang="ko-KR" altLang="en-US">
                <a:latin typeface="+mn-ea"/>
              </a:rPr>
              <a:t>엔진 모듈 통합 </a:t>
            </a:r>
            <a:r>
              <a:rPr lang="en-US" altLang="ko-KR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+mn-ea"/>
              </a:rPr>
              <a:t>컨텐츠 구현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57672B7-1318-5BCD-C25E-136A1A2432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1.2 Software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Developing Flow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42DB1B1-68DC-B39D-DA87-19C5A5C1CD3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>
                <a:latin typeface="+mn-ea"/>
              </a:rPr>
              <a:t>테스트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기능</a:t>
            </a:r>
            <a:r>
              <a:rPr lang="en-US" altLang="ko-KR">
                <a:latin typeface="+mn-ea"/>
              </a:rPr>
              <a:t>(Play) </a:t>
            </a:r>
            <a:r>
              <a:rPr lang="ko-KR" altLang="en-US">
                <a:latin typeface="+mn-ea"/>
              </a:rPr>
              <a:t>중심 알파</a:t>
            </a:r>
            <a:r>
              <a:rPr lang="en-US" altLang="ko-KR">
                <a:latin typeface="+mn-ea"/>
              </a:rPr>
              <a:t> </a:t>
            </a:r>
            <a:r>
              <a:rPr lang="ko-KR" altLang="en-US">
                <a:latin typeface="+mn-ea"/>
              </a:rPr>
              <a:t>테스트</a:t>
            </a:r>
          </a:p>
          <a:p>
            <a:pPr lvl="1"/>
            <a:r>
              <a:rPr lang="ko-KR" altLang="en-US">
                <a:latin typeface="+mn-ea"/>
              </a:rPr>
              <a:t>그래픽 </a:t>
            </a:r>
            <a:r>
              <a:rPr lang="en-US" altLang="ko-KR">
                <a:latin typeface="+mn-ea"/>
              </a:rPr>
              <a:t>Quality, </a:t>
            </a:r>
            <a:r>
              <a:rPr lang="ko-KR" altLang="en-US">
                <a:latin typeface="+mn-ea"/>
              </a:rPr>
              <a:t>성능 중심의 클라이언트 알파 테스트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네트워크 </a:t>
            </a:r>
            <a:r>
              <a:rPr lang="en-US" altLang="ko-KR">
                <a:latin typeface="+mn-ea"/>
              </a:rPr>
              <a:t>I/O </a:t>
            </a:r>
            <a:r>
              <a:rPr lang="ko-KR" altLang="en-US">
                <a:latin typeface="+mn-ea"/>
              </a:rPr>
              <a:t>중심의 클라이언트</a:t>
            </a:r>
            <a:r>
              <a:rPr lang="en-US" altLang="ko-KR">
                <a:latin typeface="+mn-ea"/>
              </a:rPr>
              <a:t>/</a:t>
            </a:r>
            <a:r>
              <a:rPr lang="ko-KR" altLang="en-US">
                <a:latin typeface="+mn-ea"/>
              </a:rPr>
              <a:t>서버  베타 테스트</a:t>
            </a:r>
          </a:p>
          <a:p>
            <a:pPr lvl="4"/>
            <a:endParaRPr lang="en-US" altLang="ko-KR">
              <a:latin typeface="+mn-ea"/>
            </a:endParaRPr>
          </a:p>
          <a:p>
            <a:pPr lvl="4"/>
            <a:endParaRPr lang="ko-KR" altLang="en-US">
              <a:latin typeface="+mn-ea"/>
            </a:endParaRPr>
          </a:p>
          <a:p>
            <a:r>
              <a:rPr lang="ko-KR" altLang="en-US">
                <a:latin typeface="+mn-ea"/>
              </a:rPr>
              <a:t>배포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유지보수</a:t>
            </a:r>
          </a:p>
          <a:p>
            <a:pPr lvl="1"/>
            <a:r>
              <a:rPr lang="ko-KR" altLang="en-US">
                <a:latin typeface="+mn-ea"/>
              </a:rPr>
              <a:t>버그 패치</a:t>
            </a:r>
          </a:p>
          <a:p>
            <a:pPr lvl="1"/>
            <a:r>
              <a:rPr lang="ko-KR" altLang="en-US">
                <a:latin typeface="+mn-ea"/>
              </a:rPr>
              <a:t>기능 강화</a:t>
            </a:r>
            <a:endParaRPr lang="en-US" altLang="ko-KR">
              <a:latin typeface="+mn-ea"/>
            </a:endParaRPr>
          </a:p>
          <a:p>
            <a:pPr lvl="1"/>
            <a:r>
              <a:rPr lang="ko-KR" altLang="en-US">
                <a:latin typeface="+mn-ea"/>
              </a:rPr>
              <a:t>보안 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C05BAEEA-68D0-7C37-C797-CF24C61B2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42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38" y="2924175"/>
            <a:ext cx="1223962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43" name="Line 3">
            <a:extLst>
              <a:ext uri="{FF2B5EF4-FFF2-40B4-BE49-F238E27FC236}">
                <a16:creationId xmlns:a16="http://schemas.microsoft.com/office/drawing/2014/main" id="{1E637AC5-746C-254B-BBED-7AEE62F82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3573463"/>
            <a:ext cx="4249737" cy="3175"/>
          </a:xfrm>
          <a:prstGeom prst="line">
            <a:avLst/>
          </a:prstGeom>
          <a:noFill/>
          <a:ln w="38227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49837D07-5507-5EAE-EC79-46559A218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443" y="3078163"/>
            <a:ext cx="2869866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latinLnBrk="0" hangingPunct="1">
              <a:spcBef>
                <a:spcPts val="1250"/>
              </a:spcBef>
              <a:buClr>
                <a:srgbClr val="000000"/>
              </a:buClr>
              <a:buSzPct val="100000"/>
              <a:buFont typeface="HY헤드라인M" panose="02030600000101010101" pitchFamily="18" charset="-127"/>
              <a:buNone/>
            </a:pPr>
            <a:r>
              <a:rPr kumimoji="0" lang="en-GB" altLang="ko-KR" b="1">
                <a:latin typeface="+mn-ea"/>
                <a:ea typeface="+mn-ea"/>
              </a:rPr>
              <a:t>Game Components</a:t>
            </a:r>
            <a:endParaRPr kumimoji="0" lang="ko-KR" altLang="en-GB" b="1">
              <a:latin typeface="+mn-ea"/>
              <a:ea typeface="+mn-ea"/>
            </a:endParaRP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C54334AB-D145-9360-5D1F-E0EEB6498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3068638"/>
            <a:ext cx="1512887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latinLnBrk="0" hangingPunct="1">
              <a:spcBef>
                <a:spcPts val="1500"/>
              </a:spcBef>
              <a:buClr>
                <a:srgbClr val="333399"/>
              </a:buClr>
              <a:buSzPct val="100000"/>
              <a:buFont typeface="HY타자전각M" pitchFamily="18" charset="-127"/>
              <a:buNone/>
            </a:pPr>
            <a:r>
              <a:rPr kumimoji="0" lang="en-GB" altLang="ko-KR" sz="2800" b="1">
                <a:solidFill>
                  <a:srgbClr val="333399"/>
                </a:solidFill>
                <a:latin typeface="+mn-ea"/>
                <a:ea typeface="+mn-ea"/>
              </a:rPr>
              <a:t>PART 2.</a:t>
            </a:r>
            <a:r>
              <a:rPr kumimoji="0" lang="en-GB" altLang="ko-KR" sz="2800" b="1">
                <a:solidFill>
                  <a:srgbClr val="000000"/>
                </a:solidFill>
                <a:latin typeface="+mn-ea"/>
                <a:ea typeface="+mn-ea"/>
              </a:rPr>
              <a:t>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6AEF349-A3A9-8B36-583A-7E4A26477A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2.1 Game Components </a:t>
            </a:r>
            <a:r>
              <a:rPr kumimoji="0" lang="ko-KR" altLang="en-US">
                <a:solidFill>
                  <a:srgbClr val="FFFFFF"/>
                </a:solidFill>
                <a:latin typeface="+mn-ea"/>
                <a:ea typeface="+mn-ea"/>
              </a:rPr>
              <a:t>종류</a:t>
            </a:r>
          </a:p>
        </p:txBody>
      </p:sp>
      <p:grpSp>
        <p:nvGrpSpPr>
          <p:cNvPr id="11267" name="그룹 12">
            <a:extLst>
              <a:ext uri="{FF2B5EF4-FFF2-40B4-BE49-F238E27FC236}">
                <a16:creationId xmlns:a16="http://schemas.microsoft.com/office/drawing/2014/main" id="{E8B69316-BED6-C119-F8D0-F7DABEB3E519}"/>
              </a:ext>
            </a:extLst>
          </p:cNvPr>
          <p:cNvGrpSpPr>
            <a:grpSpLocks/>
          </p:cNvGrpSpPr>
          <p:nvPr/>
        </p:nvGrpSpPr>
        <p:grpSpPr bwMode="auto">
          <a:xfrm>
            <a:off x="2368550" y="1438274"/>
            <a:ext cx="4786313" cy="953860"/>
            <a:chOff x="3188650" y="1438884"/>
            <a:chExt cx="3240000" cy="645697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399D5F7-2ADD-D068-474F-16773B473FEB}"/>
                </a:ext>
              </a:extLst>
            </p:cNvPr>
            <p:cNvSpPr/>
            <p:nvPr/>
          </p:nvSpPr>
          <p:spPr bwMode="auto">
            <a:xfrm>
              <a:off x="3188650" y="1438884"/>
              <a:ext cx="3240000" cy="441531"/>
            </a:xfrm>
            <a:prstGeom prst="ellipse">
              <a:avLst/>
            </a:prstGeom>
            <a:gradFill flip="none" rotWithShape="1">
              <a:gsLst>
                <a:gs pos="0">
                  <a:srgbClr val="FF3399"/>
                </a:gs>
                <a:gs pos="25000">
                  <a:srgbClr val="FF6633"/>
                </a:gs>
                <a:gs pos="50000">
                  <a:srgbClr val="FFFF00"/>
                </a:gs>
                <a:gs pos="75000">
                  <a:srgbClr val="01A78F"/>
                </a:gs>
                <a:gs pos="100000">
                  <a:srgbClr val="3366FF"/>
                </a:gs>
              </a:gsLst>
              <a:path path="circle">
                <a:fillToRect l="100000" t="100000"/>
              </a:path>
              <a:tileRect r="-100000" b="-100000"/>
            </a:gradFill>
            <a:ln w="1270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>
              <a:spAutoFit/>
            </a:bodyPr>
            <a:lstStyle/>
            <a:p>
              <a:pPr>
                <a:defRPr/>
              </a:pPr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11278" name="타원 10">
              <a:extLst>
                <a:ext uri="{FF2B5EF4-FFF2-40B4-BE49-F238E27FC236}">
                  <a16:creationId xmlns:a16="http://schemas.microsoft.com/office/drawing/2014/main" id="{1DD3E125-BEC8-DF8D-1DD0-6199E18D8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364" y="1643050"/>
              <a:ext cx="2857520" cy="4415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algn="ctr">
                  <a:solidFill>
                    <a:srgbClr val="000000"/>
                  </a:solidFill>
                  <a:prstDash val="sysDot"/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가을체" panose="02030600000101010101" pitchFamily="18" charset="-127"/>
                  <a:ea typeface="가을체" panose="02030600000101010101" pitchFamily="18" charset="-127"/>
                </a:defRPr>
              </a:lvl9pPr>
            </a:lstStyle>
            <a:p>
              <a:pPr eaLnBrk="1" hangingPunct="1"/>
              <a:endParaRPr lang="ko-KR" altLang="en-US">
                <a:latin typeface="+mn-ea"/>
                <a:ea typeface="+mn-ea"/>
              </a:endParaRPr>
            </a:p>
          </p:txBody>
        </p:sp>
      </p:grpSp>
      <p:sp>
        <p:nvSpPr>
          <p:cNvPr id="11268" name="AutoShape 4">
            <a:extLst>
              <a:ext uri="{FF2B5EF4-FFF2-40B4-BE49-F238E27FC236}">
                <a16:creationId xmlns:a16="http://schemas.microsoft.com/office/drawing/2014/main" id="{AB55A373-FFA2-893E-45AE-02C463295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1500188"/>
            <a:ext cx="1811338" cy="928687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200" b="1">
                <a:latin typeface="+mn-ea"/>
                <a:ea typeface="+mn-ea"/>
              </a:rPr>
              <a:t>Graphics</a:t>
            </a:r>
            <a:endParaRPr lang="ko-KR" altLang="en-US" sz="3200" b="1">
              <a:latin typeface="+mn-ea"/>
              <a:ea typeface="+mn-ea"/>
            </a:endParaRPr>
          </a:p>
        </p:txBody>
      </p:sp>
      <p:sp>
        <p:nvSpPr>
          <p:cNvPr id="11269" name="AutoShape 5">
            <a:extLst>
              <a:ext uri="{FF2B5EF4-FFF2-40B4-BE49-F238E27FC236}">
                <a16:creationId xmlns:a16="http://schemas.microsoft.com/office/drawing/2014/main" id="{83DB9EE3-276E-9506-698C-E4D18EFCD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0" y="3429000"/>
            <a:ext cx="1811338" cy="928688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200" b="1">
                <a:latin typeface="+mn-ea"/>
                <a:ea typeface="+mn-ea"/>
              </a:rPr>
              <a:t>Input</a:t>
            </a:r>
            <a:endParaRPr lang="ko-KR" altLang="en-US" sz="3200" b="1">
              <a:latin typeface="+mn-ea"/>
              <a:ea typeface="+mn-ea"/>
            </a:endParaRPr>
          </a:p>
        </p:txBody>
      </p:sp>
      <p:sp>
        <p:nvSpPr>
          <p:cNvPr id="11270" name="AutoShape 6">
            <a:extLst>
              <a:ext uri="{FF2B5EF4-FFF2-40B4-BE49-F238E27FC236}">
                <a16:creationId xmlns:a16="http://schemas.microsoft.com/office/drawing/2014/main" id="{D71C98A0-B195-4054-8CA3-6B15A2D0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5143500"/>
            <a:ext cx="1811338" cy="928688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200" b="1">
                <a:latin typeface="+mn-ea"/>
                <a:ea typeface="+mn-ea"/>
              </a:rPr>
              <a:t>Media</a:t>
            </a:r>
            <a:endParaRPr lang="ko-KR" altLang="en-US" sz="3200" b="1">
              <a:latin typeface="+mn-ea"/>
              <a:ea typeface="+mn-ea"/>
            </a:endParaRPr>
          </a:p>
        </p:txBody>
      </p:sp>
      <p:sp>
        <p:nvSpPr>
          <p:cNvPr id="11271" name="AutoShape 7">
            <a:extLst>
              <a:ext uri="{FF2B5EF4-FFF2-40B4-BE49-F238E27FC236}">
                <a16:creationId xmlns:a16="http://schemas.microsoft.com/office/drawing/2014/main" id="{FDF2E4C6-8459-5F8F-3774-F83285200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5143500"/>
            <a:ext cx="1811337" cy="928688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200" b="1">
                <a:latin typeface="+mn-ea"/>
                <a:ea typeface="+mn-ea"/>
              </a:rPr>
              <a:t>Font</a:t>
            </a:r>
            <a:endParaRPr lang="ko-KR" altLang="en-US" sz="3200" b="1">
              <a:latin typeface="+mn-ea"/>
              <a:ea typeface="+mn-ea"/>
            </a:endParaRPr>
          </a:p>
        </p:txBody>
      </p:sp>
      <p:sp>
        <p:nvSpPr>
          <p:cNvPr id="11272" name="AutoShape 8">
            <a:extLst>
              <a:ext uri="{FF2B5EF4-FFF2-40B4-BE49-F238E27FC236}">
                <a16:creationId xmlns:a16="http://schemas.microsoft.com/office/drawing/2014/main" id="{5B236697-C7A3-DD31-F157-4F0E19DFB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3429000"/>
            <a:ext cx="1974850" cy="928688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200" b="1">
                <a:latin typeface="+mn-ea"/>
                <a:ea typeface="+mn-ea"/>
              </a:rPr>
              <a:t>Network</a:t>
            </a:r>
          </a:p>
        </p:txBody>
      </p:sp>
      <p:sp>
        <p:nvSpPr>
          <p:cNvPr id="11273" name="AutoShape 9">
            <a:extLst>
              <a:ext uri="{FF2B5EF4-FFF2-40B4-BE49-F238E27FC236}">
                <a16:creationId xmlns:a16="http://schemas.microsoft.com/office/drawing/2014/main" id="{4272667F-B09D-CB70-0C3F-38095D7B3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1500188"/>
            <a:ext cx="1974850" cy="928687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 w="19050">
            <a:solidFill>
              <a:srgbClr val="800000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lang="en-US" altLang="ko-KR" sz="3200" b="1">
                <a:latin typeface="+mn-ea"/>
                <a:ea typeface="+mn-ea"/>
              </a:rPr>
              <a:t>Data</a:t>
            </a:r>
          </a:p>
        </p:txBody>
      </p:sp>
      <p:sp>
        <p:nvSpPr>
          <p:cNvPr id="11274" name="직사각형 16">
            <a:extLst>
              <a:ext uri="{FF2B5EF4-FFF2-40B4-BE49-F238E27FC236}">
                <a16:creationId xmlns:a16="http://schemas.microsoft.com/office/drawing/2014/main" id="{7AEC047D-4778-1450-7640-031C43C6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327" y="3198813"/>
            <a:ext cx="317253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hangingPunct="1"/>
            <a:r>
              <a:rPr kumimoji="0" lang="en-GB" altLang="ko-KR" sz="4000" b="1">
                <a:solidFill>
                  <a:srgbClr val="FF0000"/>
                </a:solidFill>
                <a:latin typeface="+mn-ea"/>
                <a:ea typeface="+mn-ea"/>
              </a:rPr>
              <a:t>Game</a:t>
            </a:r>
          </a:p>
          <a:p>
            <a:pPr algn="ctr" eaLnBrk="1" hangingPunct="1"/>
            <a:r>
              <a:rPr kumimoji="0" lang="en-GB" altLang="ko-KR" sz="4000" b="1">
                <a:solidFill>
                  <a:srgbClr val="FF0000"/>
                </a:solidFill>
                <a:latin typeface="+mn-ea"/>
                <a:ea typeface="+mn-ea"/>
              </a:rPr>
              <a:t>Components</a:t>
            </a:r>
            <a:endParaRPr lang="ko-KR" altLang="en-US" sz="4000" b="1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CD44BD9-8E5E-88E5-F459-E4797A019B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2.2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Graphics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5992646-ABFE-93FC-8CC9-0848F43C44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2D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Image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Texture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2D </a:t>
            </a:r>
            <a:r>
              <a:rPr lang="ko-KR" altLang="en-US">
                <a:latin typeface="+mn-ea"/>
              </a:rPr>
              <a:t>모델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GUI(Graphic User Interface)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</a:t>
            </a:r>
          </a:p>
          <a:p>
            <a:pPr lvl="2">
              <a:lnSpc>
                <a:spcPct val="90000"/>
              </a:lnSpc>
            </a:pPr>
            <a:r>
              <a:rPr lang="en-US" altLang="ko-KR">
                <a:latin typeface="+mn-ea"/>
              </a:rPr>
              <a:t>Video Buffer: 3D Rendering Pipe Line </a:t>
            </a:r>
            <a:r>
              <a:rPr lang="ko-KR" altLang="en-US">
                <a:latin typeface="+mn-ea"/>
              </a:rPr>
              <a:t>이 없는 시스템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ko-KR">
                <a:latin typeface="+mn-ea"/>
              </a:rPr>
              <a:t>Direct3D </a:t>
            </a:r>
            <a:r>
              <a:rPr lang="ko-KR" altLang="en-US">
                <a:latin typeface="+mn-ea"/>
              </a:rPr>
              <a:t>또는</a:t>
            </a:r>
            <a:r>
              <a:rPr lang="en-US" altLang="ko-KR">
                <a:latin typeface="+mn-ea"/>
              </a:rPr>
              <a:t> OpenGL </a:t>
            </a:r>
            <a:r>
              <a:rPr lang="ko-KR" altLang="en-US">
                <a:latin typeface="+mn-ea"/>
              </a:rPr>
              <a:t>등 </a:t>
            </a:r>
            <a:r>
              <a:rPr lang="en-US" altLang="ko-KR">
                <a:latin typeface="+mn-ea"/>
              </a:rPr>
              <a:t>3D Rendering Pipe Line </a:t>
            </a:r>
            <a:r>
              <a:rPr lang="ko-KR" altLang="en-US">
                <a:latin typeface="+mn-ea"/>
              </a:rPr>
              <a:t>로 구현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endParaRPr lang="en-US" altLang="ko-KR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3D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3D Mesh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Transform &amp; Lighting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Direct3D, OpenGL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D92BA70-2660-5D51-AAAF-DF04292254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2.3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Input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ADA46EE-CBB0-BE5D-FE57-65B3E13E60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Keyboard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Keyboard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Keypad, </a:t>
            </a:r>
            <a:r>
              <a:rPr lang="ko-KR" altLang="en-US">
                <a:latin typeface="+mn-ea"/>
              </a:rPr>
              <a:t>버튼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DirectInput, API </a:t>
            </a:r>
            <a:r>
              <a:rPr lang="ko-KR" altLang="en-US">
                <a:latin typeface="+mn-ea"/>
              </a:rPr>
              <a:t>함수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Mouse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Mouse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Multi touch screen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DirectInput, API </a:t>
            </a:r>
            <a:r>
              <a:rPr lang="ko-KR" altLang="en-US">
                <a:latin typeface="+mn-ea"/>
              </a:rPr>
              <a:t>함수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Joystick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DirectInput, API </a:t>
            </a:r>
            <a:r>
              <a:rPr lang="ko-KR" altLang="en-US">
                <a:latin typeface="+mn-ea"/>
              </a:rPr>
              <a:t>함수</a:t>
            </a:r>
            <a:endParaRPr lang="en-US" altLang="ko-KR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4F4E3BD-4609-2CB6-815D-BA95620010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2.4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Media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AF816E-155A-FC69-AC3E-1200FD0A14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latin typeface="+mn-ea"/>
              </a:rPr>
              <a:t>Sound</a:t>
            </a:r>
            <a:endParaRPr lang="ko-KR" altLang="en-US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Analog signal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Digitize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Mono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Stereo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3D sound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Library: DirectSound, </a:t>
            </a:r>
            <a:r>
              <a:rPr lang="en-US" altLang="ko-KR" dirty="0" err="1">
                <a:latin typeface="+mn-ea"/>
              </a:rPr>
              <a:t>OpenAL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OpenSL</a:t>
            </a:r>
            <a:endParaRPr lang="ko-KR" altLang="en-US" dirty="0">
              <a:latin typeface="+mn-ea"/>
            </a:endParaRPr>
          </a:p>
          <a:p>
            <a:pPr lvl="4">
              <a:lnSpc>
                <a:spcPct val="90000"/>
              </a:lnSpc>
            </a:pPr>
            <a:endParaRPr lang="ko-KR" altLang="en-US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latin typeface="+mn-ea"/>
              </a:rPr>
              <a:t>Video</a:t>
            </a:r>
            <a:endParaRPr lang="ko-KR" altLang="en-US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Library: DirectShow, API </a:t>
            </a:r>
            <a:r>
              <a:rPr lang="ko-KR" altLang="en-US" dirty="0">
                <a:latin typeface="+mn-ea"/>
              </a:rPr>
              <a:t>함수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latin typeface="+mn-ea"/>
              </a:rPr>
              <a:t>Music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Direct Music: </a:t>
            </a:r>
            <a:r>
              <a:rPr lang="ko-KR" altLang="en-US" dirty="0">
                <a:latin typeface="+mn-ea"/>
              </a:rPr>
              <a:t>연주를 위한 악보 개념의 모듈이었으나 구현이 </a:t>
            </a:r>
            <a:r>
              <a:rPr lang="en-US" altLang="ko-KR" dirty="0">
                <a:latin typeface="+mn-ea"/>
              </a:rPr>
              <a:t>Sound</a:t>
            </a:r>
            <a:r>
              <a:rPr lang="ko-KR" altLang="en-US" dirty="0">
                <a:latin typeface="+mn-ea"/>
              </a:rPr>
              <a:t>로 통합</a:t>
            </a:r>
            <a:endParaRPr lang="en-US" altLang="ko-KR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B227604-4520-CEF2-EBD8-49BF9F127A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2.5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Font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3CF3EB3-D36B-8C56-5D6C-4A14E0B1B4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2D Font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2D String </a:t>
            </a:r>
            <a:r>
              <a:rPr lang="ko-KR" altLang="en-US">
                <a:latin typeface="+mn-ea"/>
              </a:rPr>
              <a:t>출력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D3DX, API, FreeTypeFont</a:t>
            </a:r>
          </a:p>
          <a:p>
            <a:pPr lvl="1">
              <a:lnSpc>
                <a:spcPct val="90000"/>
              </a:lnSpc>
            </a:pP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endParaRPr lang="ko-KR" altLang="en-US">
              <a:latin typeface="+mn-ea"/>
            </a:endParaRPr>
          </a:p>
          <a:p>
            <a:pPr lvl="4">
              <a:lnSpc>
                <a:spcPct val="90000"/>
              </a:lnSpc>
            </a:pPr>
            <a:endParaRPr lang="ko-KR" altLang="en-US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3D Font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String </a:t>
            </a:r>
            <a:r>
              <a:rPr lang="en-US" altLang="ko-KR">
                <a:latin typeface="+mn-ea"/>
                <a:sym typeface="Wingdings" panose="05000000000000000000" pitchFamily="2" charset="2"/>
              </a:rPr>
              <a:t> Vertex Buffer </a:t>
            </a:r>
            <a:r>
              <a:rPr lang="ko-KR" altLang="en-US">
                <a:latin typeface="+mn-ea"/>
                <a:sym typeface="Wingdings" panose="05000000000000000000" pitchFamily="2" charset="2"/>
              </a:rPr>
              <a:t>변환 </a:t>
            </a:r>
            <a:r>
              <a:rPr lang="en-US" altLang="ko-KR">
                <a:latin typeface="+mn-ea"/>
                <a:sym typeface="Wingdings" panose="05000000000000000000" pitchFamily="2" charset="2"/>
              </a:rPr>
              <a:t> 3D </a:t>
            </a:r>
            <a:r>
              <a:rPr lang="ko-KR" altLang="en-US">
                <a:latin typeface="+mn-ea"/>
                <a:sym typeface="Wingdings" panose="05000000000000000000" pitchFamily="2" charset="2"/>
              </a:rPr>
              <a:t>출력</a:t>
            </a:r>
            <a:endParaRPr lang="en-US" altLang="ko-KR">
              <a:latin typeface="+mn-ea"/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D3DX, API </a:t>
            </a:r>
            <a:r>
              <a:rPr lang="ko-KR" altLang="en-US">
                <a:latin typeface="+mn-ea"/>
              </a:rPr>
              <a:t>함수</a:t>
            </a:r>
            <a:endParaRPr lang="en-US" altLang="ko-KR">
              <a:latin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96FA867-E5AE-238B-2B5E-2B00B2EF5F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2.6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Network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E542675-DE17-76BF-9B1B-5298FC6BFB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I/O Model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Windows: AsyncSelect, EventSelect, IOCP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Linux, Unix: Epoll, Kqueue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BSD: Select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Winsock, API</a:t>
            </a:r>
          </a:p>
          <a:p>
            <a:pPr lvl="1">
              <a:lnSpc>
                <a:spcPct val="90000"/>
              </a:lnSpc>
            </a:pPr>
            <a:endParaRPr lang="ko-KR" altLang="en-US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Database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관계형 데이터 베이스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객체지향형 데이터 베이스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XML</a:t>
            </a: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종류</a:t>
            </a:r>
            <a:r>
              <a:rPr lang="en-US" altLang="ko-KR">
                <a:latin typeface="+mn-ea"/>
              </a:rPr>
              <a:t>: Oracle, MSSQL, MYSQL, Embedded</a:t>
            </a:r>
            <a:r>
              <a:rPr lang="ko-KR" altLang="en-US">
                <a:latin typeface="+mn-ea"/>
              </a:rPr>
              <a:t>용 </a:t>
            </a:r>
            <a:r>
              <a:rPr lang="en-US" altLang="ko-KR">
                <a:latin typeface="+mn-ea"/>
              </a:rPr>
              <a:t>SQL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Library: ODBC, OLEDB,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C6E4292-FC7C-26A8-802C-86918DFDB5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2.6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Network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143FDF2-0953-249E-3A33-7D6891EB54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Distributed Server Model</a:t>
            </a: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기능 분산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>
                <a:latin typeface="+mn-ea"/>
              </a:rPr>
              <a:t>패치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인증</a:t>
            </a:r>
            <a:r>
              <a:rPr lang="en-US" altLang="ko-KR">
                <a:latin typeface="+mn-ea"/>
              </a:rPr>
              <a:t>, </a:t>
            </a:r>
            <a:r>
              <a:rPr lang="ko-KR" altLang="en-US">
                <a:latin typeface="+mn-ea"/>
              </a:rPr>
              <a:t>컨텐츠 서버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데이터 분산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ko-KR">
                <a:latin typeface="+mn-ea"/>
              </a:rPr>
              <a:t>Zone, Room, DB </a:t>
            </a:r>
            <a:r>
              <a:rPr lang="ko-KR" altLang="en-US">
                <a:latin typeface="+mn-ea"/>
              </a:rPr>
              <a:t>서버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공간 분산</a:t>
            </a:r>
            <a:endParaRPr lang="en-US" altLang="ko-KR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en-US" altLang="ko-KR">
                <a:latin typeface="+mn-ea"/>
              </a:rPr>
              <a:t>Server Group(</a:t>
            </a:r>
            <a:r>
              <a:rPr lang="ko-KR" altLang="en-US">
                <a:latin typeface="+mn-ea"/>
              </a:rPr>
              <a:t>서버 군</a:t>
            </a:r>
            <a:r>
              <a:rPr lang="en-US" altLang="ko-KR">
                <a:latin typeface="+mn-ea"/>
              </a:rPr>
              <a:t>)  </a:t>
            </a:r>
            <a:r>
              <a:rPr lang="ko-KR" altLang="en-US">
                <a:latin typeface="+mn-ea"/>
              </a:rPr>
              <a:t>구성</a:t>
            </a:r>
            <a:endParaRPr lang="en-US" altLang="ko-KR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8ACDD78-CB8E-9DF8-3639-BB1CECD53F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>
                <a:solidFill>
                  <a:srgbClr val="FFFFFF"/>
                </a:solidFill>
                <a:latin typeface="+mn-ea"/>
                <a:ea typeface="+mn-ea"/>
              </a:rPr>
              <a:t>2.7 </a:t>
            </a:r>
            <a:r>
              <a:rPr kumimoji="0" lang="en-US" altLang="ko-KR">
                <a:solidFill>
                  <a:srgbClr val="FFFFFF"/>
                </a:solidFill>
                <a:latin typeface="+mn-ea"/>
                <a:ea typeface="+mn-ea"/>
              </a:rPr>
              <a:t>Game Components - Data</a:t>
            </a:r>
            <a:endParaRPr kumimoji="0"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F00FDC6-828B-9670-AAB2-123D2FE102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Game Play Data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Game Play</a:t>
            </a:r>
            <a:r>
              <a:rPr lang="ko-KR" altLang="en-US">
                <a:latin typeface="+mn-ea"/>
              </a:rPr>
              <a:t>와 직접 연관있는 데이터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반드시 실행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네트워크 입출력 데이터</a:t>
            </a:r>
            <a:r>
              <a:rPr lang="en-US" altLang="ko-KR">
                <a:latin typeface="+mn-ea"/>
              </a:rPr>
              <a:t>, Game Level, UI</a:t>
            </a:r>
          </a:p>
          <a:p>
            <a:pPr lvl="1">
              <a:lnSpc>
                <a:spcPct val="90000"/>
              </a:lnSpc>
            </a:pPr>
            <a:endParaRPr lang="ko-KR" altLang="en-US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latin typeface="+mn-ea"/>
              </a:rPr>
              <a:t>Rendering Data</a:t>
            </a:r>
            <a:endParaRPr lang="ko-KR" altLang="en-US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연출 데이터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>
                <a:latin typeface="+mn-ea"/>
              </a:rPr>
              <a:t>필요에 따라 실행이 안될 수 있음</a:t>
            </a:r>
            <a:endParaRPr lang="en-US" altLang="ko-KR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>
                <a:latin typeface="+mn-ea"/>
              </a:rPr>
              <a:t>Particle,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EBE9052F-5E87-F915-1BAD-1543BC541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42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138" y="2924175"/>
            <a:ext cx="1223962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9459" name="Line 3">
            <a:extLst>
              <a:ext uri="{FF2B5EF4-FFF2-40B4-BE49-F238E27FC236}">
                <a16:creationId xmlns:a16="http://schemas.microsoft.com/office/drawing/2014/main" id="{492BCF0D-E069-ECD0-71A7-C6CBCF61C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3573463"/>
            <a:ext cx="4319587" cy="0"/>
          </a:xfrm>
          <a:prstGeom prst="line">
            <a:avLst/>
          </a:prstGeom>
          <a:noFill/>
          <a:ln w="38227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1C732BD3-61AA-EF09-2D66-5442C690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6338" y="3078163"/>
            <a:ext cx="31940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latinLnBrk="0" hangingPunct="1">
              <a:spcBef>
                <a:spcPts val="1250"/>
              </a:spcBef>
              <a:buClr>
                <a:srgbClr val="000000"/>
              </a:buClr>
              <a:buSzPct val="100000"/>
              <a:buFont typeface="HY헤드라인M" panose="02030600000101010101" pitchFamily="18" charset="-127"/>
              <a:buNone/>
            </a:pPr>
            <a:r>
              <a:rPr kumimoji="0" lang="en-GB" altLang="ko-KR" b="1" dirty="0">
                <a:latin typeface="+mn-ea"/>
                <a:ea typeface="+mn-ea"/>
              </a:rPr>
              <a:t>GLC2D Game Library</a:t>
            </a:r>
            <a:endParaRPr kumimoji="0" lang="ko-KR" altLang="en-GB" b="1" dirty="0">
              <a:latin typeface="+mn-ea"/>
              <a:ea typeface="+mn-ea"/>
            </a:endParaRP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F53B131C-9CF0-7444-1138-D73B35976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068638"/>
            <a:ext cx="1512887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marL="742950" indent="-28575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marL="11430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marL="16002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marL="2057400" indent="-228600" defTabSz="449263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ctr" eaLnBrk="1" latinLnBrk="0" hangingPunct="1">
              <a:spcBef>
                <a:spcPts val="1500"/>
              </a:spcBef>
              <a:buClr>
                <a:srgbClr val="333399"/>
              </a:buClr>
              <a:buSzPct val="100000"/>
              <a:buFont typeface="HY타자전각M" pitchFamily="18" charset="-127"/>
              <a:buNone/>
            </a:pPr>
            <a:r>
              <a:rPr kumimoji="0" lang="en-GB" altLang="ko-KR" sz="2800" b="1">
                <a:solidFill>
                  <a:srgbClr val="333399"/>
                </a:solidFill>
                <a:latin typeface="+mn-ea"/>
                <a:ea typeface="+mn-ea"/>
              </a:rPr>
              <a:t>PART 3.</a:t>
            </a:r>
            <a:r>
              <a:rPr kumimoji="0" lang="en-GB" altLang="ko-KR" sz="2800" b="1">
                <a:solidFill>
                  <a:srgbClr val="000000"/>
                </a:solidFill>
                <a:latin typeface="+mn-ea"/>
                <a:ea typeface="+mn-ea"/>
              </a:rPr>
              <a:t>   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6536D93-08B1-0886-2258-F61DCBD6B3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3.1 GLC2D Game Library- System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B4429C4-173B-B922-2E1E-32EA38949E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Window </a:t>
            </a:r>
            <a:r>
              <a:rPr lang="ko-KR" altLang="en-US" dirty="0">
                <a:latin typeface="+mn-ea"/>
              </a:rPr>
              <a:t>생성</a:t>
            </a:r>
            <a:r>
              <a:rPr lang="en-US" altLang="ko-KR" dirty="0">
                <a:latin typeface="+mn-ea"/>
              </a:rPr>
              <a:t>/ </a:t>
            </a:r>
            <a:r>
              <a:rPr lang="ko-KR" altLang="en-US" dirty="0">
                <a:latin typeface="+mn-ea"/>
              </a:rPr>
              <a:t>해제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g2_CreateWin</a:t>
            </a:r>
          </a:p>
          <a:p>
            <a:pPr lvl="1"/>
            <a:r>
              <a:rPr lang="en-US" altLang="ko-KR" dirty="0">
                <a:latin typeface="+mn-ea"/>
              </a:rPr>
              <a:t>g2_DestroyWin</a:t>
            </a: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프로그램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실행</a:t>
            </a:r>
            <a:r>
              <a:rPr lang="en-US" altLang="ko-KR" dirty="0">
                <a:latin typeface="+mn-ea"/>
              </a:rPr>
              <a:t>(Run-while)</a:t>
            </a:r>
          </a:p>
          <a:p>
            <a:pPr lvl="1"/>
            <a:r>
              <a:rPr lang="en-US" altLang="ko-KR" dirty="0">
                <a:latin typeface="+mn-ea"/>
              </a:rPr>
              <a:t>g2_Run</a:t>
            </a: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Ex01_start </a:t>
            </a:r>
            <a:r>
              <a:rPr lang="ko-KR" altLang="en-US" dirty="0">
                <a:latin typeface="+mn-ea"/>
              </a:rPr>
              <a:t>예제 참조</a:t>
            </a:r>
            <a:endParaRPr lang="en-US" altLang="ko-KR" dirty="0"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CFE04-C945-DF67-8D25-FD674015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EDE772A-2BC7-C8D6-5C43-CECA5F74D7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3.1 GLC2D Game Library - </a:t>
            </a:r>
            <a:r>
              <a:rPr kumimoji="0" lang="ko-KR" altLang="en-US" dirty="0">
                <a:solidFill>
                  <a:srgbClr val="FFFFFF"/>
                </a:solidFill>
                <a:latin typeface="+mn-ea"/>
                <a:ea typeface="+mn-ea"/>
              </a:rPr>
              <a:t>설치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8248DA6-3944-FEBF-CBA5-16D8D0607B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ko-KR" sz="2000" dirty="0">
                <a:latin typeface="+mn-ea"/>
              </a:rPr>
              <a:t>C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D drive </a:t>
            </a:r>
            <a:r>
              <a:rPr lang="ko-KR" altLang="en-US" sz="2000" dirty="0">
                <a:latin typeface="+mn-ea"/>
              </a:rPr>
              <a:t>폴더 생성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en-US" altLang="ko-KR" sz="1800" dirty="0">
                <a:latin typeface="+mn-ea"/>
              </a:rPr>
              <a:t>Ex)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D:\NugetPackage</a:t>
            </a:r>
          </a:p>
          <a:p>
            <a:r>
              <a:rPr lang="en-US" altLang="ko-KR" sz="2000" dirty="0">
                <a:latin typeface="+mn-ea"/>
              </a:rPr>
              <a:t>Visual studio Package </a:t>
            </a:r>
            <a:r>
              <a:rPr lang="ko-KR" altLang="en-US" sz="2000" dirty="0">
                <a:latin typeface="+mn-ea"/>
              </a:rPr>
              <a:t>관리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ko-KR" altLang="en-US" sz="1800" dirty="0">
                <a:latin typeface="+mn-ea"/>
              </a:rPr>
              <a:t>메뉴 </a:t>
            </a:r>
            <a:r>
              <a:rPr lang="en-US" altLang="ko-KR" sz="1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도구 </a:t>
            </a:r>
            <a:r>
              <a:rPr lang="en-US" altLang="ko-KR" sz="1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옵션  </a:t>
            </a:r>
            <a:r>
              <a:rPr lang="en-US" altLang="ko-KR" sz="1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sz="1800" dirty="0" err="1">
                <a:latin typeface="+mn-ea"/>
                <a:sym typeface="Wingdings" panose="05000000000000000000" pitchFamily="2" charset="2"/>
              </a:rPr>
              <a:t>Nuget</a:t>
            </a:r>
            <a:r>
              <a:rPr lang="en-US" altLang="ko-KR" sz="1800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패키지 관리자 </a:t>
            </a:r>
            <a:r>
              <a:rPr lang="en-US" altLang="ko-KR" sz="18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atin typeface="+mn-ea"/>
                <a:sym typeface="Wingdings" panose="05000000000000000000" pitchFamily="2" charset="2"/>
              </a:rPr>
              <a:t>패키지 소스 생성한 폴더 등록</a:t>
            </a:r>
            <a:endParaRPr lang="en-US" altLang="ko-KR" sz="1800" dirty="0">
              <a:latin typeface="+mn-ea"/>
              <a:sym typeface="Wingdings" panose="05000000000000000000" pitchFamily="2" charset="2"/>
            </a:endParaRPr>
          </a:p>
          <a:p>
            <a:pPr lvl="1"/>
            <a:endParaRPr lang="en-US" altLang="ko-KR" sz="1800" dirty="0">
              <a:latin typeface="+mn-ea"/>
            </a:endParaRPr>
          </a:p>
          <a:p>
            <a:pPr lvl="1"/>
            <a:endParaRPr lang="en-US" altLang="ko-KR" sz="1800" dirty="0">
              <a:latin typeface="+mn-ea"/>
            </a:endParaRPr>
          </a:p>
          <a:p>
            <a:pPr lvl="1"/>
            <a:endParaRPr lang="en-US" altLang="ko-KR" sz="1800" dirty="0">
              <a:latin typeface="+mn-ea"/>
            </a:endParaRPr>
          </a:p>
          <a:p>
            <a:pPr lvl="1"/>
            <a:endParaRPr lang="en-US" altLang="ko-KR" sz="18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glc2d.xxxx.nupkg </a:t>
            </a:r>
            <a:r>
              <a:rPr lang="ko-KR" altLang="en-US" sz="2000" dirty="0">
                <a:latin typeface="+mn-ea"/>
              </a:rPr>
              <a:t>다운로드 → </a:t>
            </a:r>
            <a:r>
              <a:rPr lang="en-US" altLang="ko-KR" sz="2000" dirty="0" err="1">
                <a:latin typeface="+mn-ea"/>
              </a:rPr>
              <a:t>NugetPackage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로 이동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en-US" altLang="ko-KR" sz="1800" dirty="0">
                <a:latin typeface="+mn-ea"/>
                <a:hlinkClick r:id="rId2"/>
              </a:rPr>
              <a:t>https://github.com/3dapi/bs17_2d_lib/tree/master/gls2d_v0.1/nuget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lvl="1"/>
            <a:endParaRPr lang="en-US" altLang="ko-KR" sz="1800" dirty="0">
              <a:latin typeface="+mn-ea"/>
            </a:endParaRPr>
          </a:p>
          <a:p>
            <a:r>
              <a:rPr lang="en-US" altLang="ko-KR" sz="2000" dirty="0">
                <a:latin typeface="+mn-ea"/>
              </a:rPr>
              <a:t>dxsdk.d3dx,glc2d </a:t>
            </a:r>
            <a:r>
              <a:rPr lang="ko-KR" altLang="en-US" sz="2000" dirty="0">
                <a:latin typeface="+mn-ea"/>
              </a:rPr>
              <a:t>설치</a:t>
            </a:r>
            <a:endParaRPr lang="en-US" altLang="ko-KR" sz="2000" dirty="0">
              <a:latin typeface="+mn-ea"/>
            </a:endParaRPr>
          </a:p>
          <a:p>
            <a:pPr lvl="1"/>
            <a:br>
              <a:rPr lang="en-US" altLang="ko-KR" sz="1400" dirty="0">
                <a:latin typeface="+mn-ea"/>
              </a:rPr>
            </a:br>
            <a:endParaRPr lang="en-US" altLang="ko-KR" sz="14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35A08B-8487-6823-8EE7-4843A1CA4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2132856"/>
            <a:ext cx="3989575" cy="10801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2DA96D-20EC-6BC8-A0A8-EB63854B13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912" y="4854339"/>
            <a:ext cx="2837223" cy="12169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F9334CD-03C0-EEB1-3E18-822B919B4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22" y="4860843"/>
            <a:ext cx="2945266" cy="124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5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DFC8E68-10F0-A93F-A7E6-4867F305B4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3.1 GLC2D Game Library- System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52E8A86-73A0-F889-E4AF-E814431B08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시스템 내부에서 </a:t>
            </a:r>
            <a:r>
              <a:rPr lang="en-US" altLang="ko-KR" dirty="0">
                <a:latin typeface="+mn-ea"/>
              </a:rPr>
              <a:t>Update/Render</a:t>
            </a:r>
            <a:r>
              <a:rPr lang="ko-KR" altLang="en-US" dirty="0">
                <a:latin typeface="+mn-ea"/>
              </a:rPr>
              <a:t> 반복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사용자가 정의한 </a:t>
            </a:r>
            <a:r>
              <a:rPr lang="en-US" altLang="ko-KR" dirty="0">
                <a:latin typeface="+mn-ea"/>
              </a:rPr>
              <a:t>Update/Render </a:t>
            </a:r>
            <a:r>
              <a:rPr lang="ko-KR" altLang="en-US" dirty="0">
                <a:latin typeface="+mn-ea"/>
              </a:rPr>
              <a:t>함수를 전달해야 프로그램이 완성됨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Rendering </a:t>
            </a:r>
            <a:r>
              <a:rPr lang="ko-KR" altLang="en-US" dirty="0">
                <a:latin typeface="+mn-ea"/>
              </a:rPr>
              <a:t>함수 설정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g2_SetRender</a:t>
            </a:r>
          </a:p>
          <a:p>
            <a:pPr lvl="1"/>
            <a:r>
              <a:rPr lang="ko-KR" altLang="en-US" dirty="0">
                <a:latin typeface="+mn-ea"/>
              </a:rPr>
              <a:t>형식</a:t>
            </a:r>
            <a:r>
              <a:rPr lang="en-US" altLang="ko-KR" dirty="0">
                <a:latin typeface="+mn-ea"/>
              </a:rPr>
              <a:t>:  int </a:t>
            </a:r>
            <a:r>
              <a:rPr lang="ko-KR" altLang="en-US" dirty="0">
                <a:latin typeface="+mn-ea"/>
              </a:rPr>
              <a:t>함수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이름</a:t>
            </a:r>
            <a:r>
              <a:rPr lang="en-US" altLang="ko-KR" dirty="0">
                <a:latin typeface="+mn-ea"/>
              </a:rPr>
              <a:t>(void)</a:t>
            </a: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en-US" altLang="ko-KR" dirty="0" err="1">
                <a:latin typeface="+mn-ea"/>
              </a:rPr>
              <a:t>FrameMove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함수 설정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g2_SetFrameMove</a:t>
            </a:r>
          </a:p>
          <a:p>
            <a:pPr lvl="1"/>
            <a:r>
              <a:rPr lang="ko-KR" altLang="en-US" dirty="0">
                <a:latin typeface="+mn-ea"/>
              </a:rPr>
              <a:t>형식</a:t>
            </a:r>
            <a:r>
              <a:rPr lang="en-US" altLang="ko-KR" dirty="0">
                <a:latin typeface="+mn-ea"/>
              </a:rPr>
              <a:t>: int </a:t>
            </a:r>
            <a:r>
              <a:rPr lang="ko-KR" altLang="en-US" dirty="0">
                <a:latin typeface="+mn-ea"/>
              </a:rPr>
              <a:t>함수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이름</a:t>
            </a:r>
            <a:r>
              <a:rPr lang="en-US" altLang="ko-KR" dirty="0">
                <a:latin typeface="+mn-ea"/>
              </a:rPr>
              <a:t>(void)</a:t>
            </a:r>
          </a:p>
          <a:p>
            <a:pPr lvl="1"/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1C5497A-28D0-CE53-9898-F537D0AF05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3.2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Texture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3DB4F19-DF26-E488-52DA-59530FDE63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 생성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g2_TextureLoad</a:t>
            </a: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텍스처가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생성되면 순차적으로 인덱스가 반환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실패하면  </a:t>
            </a:r>
            <a:r>
              <a:rPr lang="en-US" altLang="ko-KR" dirty="0">
                <a:latin typeface="+mn-ea"/>
              </a:rPr>
              <a:t>-1 </a:t>
            </a:r>
            <a:r>
              <a:rPr lang="ko-KR" altLang="en-US" dirty="0">
                <a:latin typeface="+mn-ea"/>
              </a:rPr>
              <a:t>반환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 해제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g2_TextureRelease</a:t>
            </a: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강제로 해제하는 경우를 제외하고 자동으로 해제 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 너비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g2_TextureWidth</a:t>
            </a: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 높이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g2_TextureHeight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74C0558-8EC5-752B-1987-7A97232F31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3.2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Texture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B3B023B-1C10-6A46-FB2E-98FD99F9C30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 그리기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g2_Draw2D</a:t>
            </a: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인수</a:t>
            </a:r>
            <a:r>
              <a:rPr lang="en-US" altLang="ko-KR" dirty="0">
                <a:latin typeface="+mn-ea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텍스처 인덱스</a:t>
            </a:r>
            <a:endParaRPr lang="en-US" altLang="ko-KR" dirty="0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원본 이미지 영역</a:t>
            </a:r>
            <a:r>
              <a:rPr lang="en-US" altLang="ko-KR" dirty="0">
                <a:latin typeface="+mn-ea"/>
              </a:rPr>
              <a:t>: (</a:t>
            </a:r>
            <a:r>
              <a:rPr lang="ko-KR" altLang="en-US" dirty="0">
                <a:latin typeface="+mn-ea"/>
              </a:rPr>
              <a:t>좌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상단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하단</a:t>
            </a:r>
            <a:r>
              <a:rPr lang="en-US" altLang="ko-KR" dirty="0">
                <a:latin typeface="+mn-ea"/>
              </a:rPr>
              <a:t>), NULL</a:t>
            </a:r>
            <a:r>
              <a:rPr lang="ko-KR" altLang="en-US" dirty="0">
                <a:latin typeface="+mn-ea"/>
              </a:rPr>
              <a:t>이면 전부 렌더링</a:t>
            </a:r>
            <a:endParaRPr lang="en-US" altLang="ko-KR" dirty="0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화면에서의 위치 </a:t>
            </a:r>
            <a:r>
              <a:rPr lang="en-US" altLang="ko-KR" dirty="0">
                <a:latin typeface="+mn-ea"/>
              </a:rPr>
              <a:t>x, y: NULL </a:t>
            </a:r>
            <a:r>
              <a:rPr lang="ko-KR" altLang="en-US" dirty="0">
                <a:latin typeface="+mn-ea"/>
              </a:rPr>
              <a:t>이면 </a:t>
            </a:r>
            <a:r>
              <a:rPr lang="en-US" altLang="ko-KR" dirty="0">
                <a:latin typeface="+mn-ea"/>
              </a:rPr>
              <a:t>(0,0) </a:t>
            </a:r>
            <a:r>
              <a:rPr lang="ko-KR" altLang="en-US" dirty="0">
                <a:latin typeface="+mn-ea"/>
              </a:rPr>
              <a:t>위치에 렌더링</a:t>
            </a:r>
            <a:endParaRPr lang="en-US" altLang="ko-KR" dirty="0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크기 비율 </a:t>
            </a:r>
            <a:r>
              <a:rPr lang="en-US" altLang="ko-KR" dirty="0">
                <a:latin typeface="+mn-ea"/>
              </a:rPr>
              <a:t>x, y: NULL</a:t>
            </a:r>
            <a:r>
              <a:rPr lang="ko-KR" altLang="en-US" dirty="0">
                <a:latin typeface="+mn-ea"/>
              </a:rPr>
              <a:t>이면 </a:t>
            </a:r>
            <a:r>
              <a:rPr lang="en-US" altLang="ko-KR" dirty="0">
                <a:latin typeface="+mn-ea"/>
              </a:rPr>
              <a:t>(1.0, 1.0)</a:t>
            </a: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회전 중심 위치</a:t>
            </a:r>
            <a:r>
              <a:rPr lang="en-US" altLang="ko-KR" dirty="0">
                <a:latin typeface="+mn-ea"/>
              </a:rPr>
              <a:t> x, y: NULL </a:t>
            </a:r>
            <a:r>
              <a:rPr lang="ko-KR" altLang="en-US" dirty="0">
                <a:latin typeface="+mn-ea"/>
              </a:rPr>
              <a:t>이면 </a:t>
            </a:r>
            <a:r>
              <a:rPr lang="en-US" altLang="ko-KR" dirty="0">
                <a:latin typeface="+mn-ea"/>
              </a:rPr>
              <a:t>(0,0)</a:t>
            </a: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회전 각</a:t>
            </a:r>
            <a:r>
              <a:rPr lang="en-US" altLang="ko-KR" dirty="0">
                <a:latin typeface="+mn-ea"/>
              </a:rPr>
              <a:t>: Radian</a:t>
            </a: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색상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곱셈 값</a:t>
            </a:r>
            <a:r>
              <a:rPr lang="en-US" altLang="ko-KR" dirty="0">
                <a:latin typeface="+mn-ea"/>
              </a:rPr>
              <a:t>: 32bit ARGB</a:t>
            </a:r>
            <a:r>
              <a:rPr lang="ko-KR" altLang="en-US" dirty="0">
                <a:latin typeface="+mn-ea"/>
              </a:rPr>
              <a:t>로 구성</a:t>
            </a:r>
            <a:endParaRPr lang="en-US" altLang="ko-KR" dirty="0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단색화</a:t>
            </a:r>
            <a:r>
              <a:rPr lang="en-US" altLang="ko-KR" dirty="0">
                <a:latin typeface="+mn-ea"/>
              </a:rPr>
              <a:t>(Monotone ): TRUE/FALSE</a:t>
            </a: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색상은 </a:t>
            </a:r>
            <a:r>
              <a:rPr lang="en-US" altLang="ko-KR" dirty="0">
                <a:latin typeface="+mn-ea"/>
              </a:rPr>
              <a:t>32bit 8-ALPHA, 8-RED, 8-GREEN, 8-BLUE</a:t>
            </a:r>
            <a:r>
              <a:rPr lang="ko-KR" altLang="en-US" dirty="0">
                <a:latin typeface="+mn-ea"/>
              </a:rPr>
              <a:t>로 처리함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알파 </a:t>
            </a:r>
            <a:r>
              <a:rPr lang="ko-KR" altLang="en-US" dirty="0" err="1">
                <a:latin typeface="+mn-ea"/>
              </a:rPr>
              <a:t>블렌딩</a:t>
            </a:r>
            <a:r>
              <a:rPr lang="ko-KR" altLang="en-US" dirty="0">
                <a:latin typeface="+mn-ea"/>
              </a:rPr>
              <a:t> 옵션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g2_DrawAlphaOption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ABDF5A-93D9-0651-A153-B722C3026C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3.2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Texture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B20C644-C945-1109-D9B5-FC15F59C38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>
                <a:latin typeface="+mn-ea"/>
              </a:rPr>
              <a:t>텍스처 그리기 </a:t>
            </a:r>
            <a:r>
              <a:rPr lang="en-US" altLang="ko-KR">
                <a:latin typeface="+mn-ea"/>
              </a:rPr>
              <a:t>: Ex02_Texture </a:t>
            </a:r>
            <a:r>
              <a:rPr lang="ko-KR" altLang="en-US">
                <a:latin typeface="+mn-ea"/>
              </a:rPr>
              <a:t>예제</a:t>
            </a:r>
            <a:endParaRPr lang="en-US" altLang="ko-KR">
              <a:latin typeface="+mn-ea"/>
            </a:endParaRP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C4D7CFF6-81FA-B70D-D035-C28164BAD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1428750"/>
            <a:ext cx="6072188" cy="471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9688E48-F616-0BC1-80F6-A6FFF901A0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3.3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Input: Mouse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49346FA-D687-2AA9-9812-7442C36622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latin typeface="+mn-ea"/>
              </a:rPr>
              <a:t>Mouse </a:t>
            </a:r>
            <a:r>
              <a:rPr lang="ko-KR" altLang="en-US" dirty="0">
                <a:latin typeface="+mn-ea"/>
              </a:rPr>
              <a:t>위치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X: g2_GetMouseX</a:t>
            </a:r>
          </a:p>
          <a:p>
            <a:pPr lvl="1"/>
            <a:r>
              <a:rPr lang="en-US" altLang="ko-KR" dirty="0">
                <a:latin typeface="+mn-ea"/>
              </a:rPr>
              <a:t>Y: g2_GetMouseY</a:t>
            </a:r>
          </a:p>
          <a:p>
            <a:pPr lvl="1"/>
            <a:r>
              <a:rPr lang="en-US" altLang="ko-KR" dirty="0">
                <a:latin typeface="+mn-ea"/>
              </a:rPr>
              <a:t>Z(Wheel): g2_GetMouseZ</a:t>
            </a: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이벤트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g2_GetMouseEvent</a:t>
            </a:r>
          </a:p>
          <a:p>
            <a:pPr lvl="1"/>
            <a:r>
              <a:rPr lang="ko-KR" altLang="en-US" dirty="0">
                <a:latin typeface="+mn-ea"/>
              </a:rPr>
              <a:t>인덱스</a:t>
            </a:r>
            <a:endParaRPr lang="en-US" altLang="ko-KR" dirty="0">
              <a:latin typeface="+mn-ea"/>
            </a:endParaRPr>
          </a:p>
          <a:p>
            <a:pPr lvl="2"/>
            <a:r>
              <a:rPr lang="en-US" altLang="ko-KR" dirty="0">
                <a:latin typeface="+mn-ea"/>
              </a:rPr>
              <a:t>L button: 0</a:t>
            </a:r>
          </a:p>
          <a:p>
            <a:pPr lvl="2"/>
            <a:r>
              <a:rPr lang="en-US" altLang="ko-KR" dirty="0">
                <a:latin typeface="+mn-ea"/>
              </a:rPr>
              <a:t>R button: 1</a:t>
            </a:r>
          </a:p>
          <a:p>
            <a:pPr lvl="2"/>
            <a:r>
              <a:rPr lang="en-US" altLang="ko-KR" dirty="0">
                <a:latin typeface="+mn-ea"/>
              </a:rPr>
              <a:t>M button: 2 </a:t>
            </a: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E6A8D43D-E2E3-CF6E-1050-4EACA24F9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5" y="2786063"/>
            <a:ext cx="4873625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0D9C73C-1522-DEEF-EF09-B3B7D254FA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3.3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Input: Keyboard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CDAFBC9-D6EF-4ECF-A854-562383B25D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latin typeface="+mn-ea"/>
              </a:rPr>
              <a:t>Keyboard Event: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g2_GetKeyboard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256 unsigned char </a:t>
            </a:r>
            <a:r>
              <a:rPr lang="ko-KR" altLang="en-US" dirty="0">
                <a:latin typeface="+mn-ea"/>
              </a:rPr>
              <a:t>배열 사용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Mouse, Keyboard </a:t>
            </a:r>
            <a:r>
              <a:rPr lang="ko-KR" altLang="en-US" dirty="0">
                <a:latin typeface="+mn-ea"/>
              </a:rPr>
              <a:t>이벤트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sz="2000" dirty="0">
                <a:latin typeface="+mn-ea"/>
              </a:rPr>
              <a:t>NONE                          : 0</a:t>
            </a:r>
          </a:p>
          <a:p>
            <a:pPr lvl="1"/>
            <a:r>
              <a:rPr lang="en-US" altLang="ko-KR" sz="2000" dirty="0">
                <a:latin typeface="+mn-ea"/>
              </a:rPr>
              <a:t>DOWN(One-Click): 1</a:t>
            </a:r>
          </a:p>
          <a:p>
            <a:pPr lvl="1"/>
            <a:r>
              <a:rPr lang="en-US" altLang="ko-KR" sz="2000" dirty="0">
                <a:latin typeface="+mn-ea"/>
              </a:rPr>
              <a:t>UP                                 : 2</a:t>
            </a:r>
          </a:p>
          <a:p>
            <a:pPr lvl="1"/>
            <a:r>
              <a:rPr lang="en-US" altLang="ko-KR" sz="2000" dirty="0">
                <a:latin typeface="+mn-ea"/>
              </a:rPr>
              <a:t>Press                            : 3</a:t>
            </a:r>
          </a:p>
          <a:p>
            <a:pPr lvl="1"/>
            <a:r>
              <a:rPr lang="en-US" altLang="ko-KR" sz="2000" dirty="0">
                <a:latin typeface="+mn-ea"/>
              </a:rPr>
              <a:t>Double Click             : 4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DD7707AA-2F81-84F5-4D04-25F87343B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50" y="3143250"/>
            <a:ext cx="476885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0D42D18-A3FE-D122-DF98-EC4A499DE2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3.4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Animation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FC11490-42B0-7117-C48B-780B7253F7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latin typeface="+mn-ea"/>
              </a:rPr>
              <a:t>Animation</a:t>
            </a: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시간에 대한 이미지 영역을 설정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시간</a:t>
            </a:r>
            <a:r>
              <a:rPr lang="en-US" altLang="ko-KR" dirty="0">
                <a:latin typeface="+mn-ea"/>
              </a:rPr>
              <a:t>(millisecond)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g2_TimeGetTime</a:t>
            </a: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Simple Animation </a:t>
            </a:r>
            <a:r>
              <a:rPr lang="ko-KR" altLang="en-US" dirty="0">
                <a:latin typeface="+mn-ea"/>
              </a:rPr>
              <a:t>순서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Frame Index = Time / </a:t>
            </a:r>
            <a:r>
              <a:rPr lang="en-US" altLang="ko-KR" dirty="0" err="1">
                <a:latin typeface="+mn-ea"/>
              </a:rPr>
              <a:t>Ani_Speed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Frame Index %= Max Frame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71E52D4C-030B-2DFA-0769-7D925AB7D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00125"/>
            <a:ext cx="3770313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8D6CB0F-8F3D-F69A-CAE0-91C0433B03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3.5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Font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1C0F31F-5567-A521-AF8C-6698FF8712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폰트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생성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g2_FontCreate</a:t>
            </a:r>
          </a:p>
          <a:p>
            <a:pPr lvl="1">
              <a:lnSpc>
                <a:spcPct val="9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ko-KR" altLang="en-US" dirty="0">
                <a:latin typeface="+mn-ea"/>
              </a:rPr>
              <a:t>출력</a:t>
            </a:r>
            <a:endParaRPr lang="en-US" altLang="ko-KR" dirty="0">
              <a:latin typeface="+mn-ea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>
                <a:latin typeface="+mn-ea"/>
              </a:rPr>
              <a:t>g2_FontDrawText</a:t>
            </a:r>
          </a:p>
          <a:p>
            <a:pPr lvl="1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인수</a:t>
            </a:r>
            <a:r>
              <a:rPr lang="en-US" altLang="ko-KR" dirty="0">
                <a:latin typeface="+mn-ea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폰트 인덱스</a:t>
            </a:r>
            <a:endParaRPr lang="en-US" altLang="ko-KR" dirty="0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좌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상단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하단 영역</a:t>
            </a:r>
            <a:endParaRPr lang="en-US" altLang="ko-KR" dirty="0">
              <a:latin typeface="+mn-ea"/>
            </a:endParaRPr>
          </a:p>
          <a:p>
            <a:pPr lvl="2">
              <a:lnSpc>
                <a:spcPct val="90000"/>
              </a:lnSpc>
            </a:pPr>
            <a:r>
              <a:rPr lang="ko-KR" altLang="en-US" dirty="0">
                <a:latin typeface="+mn-ea"/>
              </a:rPr>
              <a:t>색상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32bit ARGB</a:t>
            </a:r>
          </a:p>
          <a:p>
            <a:pPr lvl="2">
              <a:lnSpc>
                <a:spcPct val="90000"/>
              </a:lnSpc>
            </a:pPr>
            <a:r>
              <a:rPr lang="en-US" altLang="ko-KR" dirty="0">
                <a:latin typeface="+mn-ea"/>
              </a:rPr>
              <a:t>Format</a:t>
            </a:r>
          </a:p>
          <a:p>
            <a:pPr lvl="2">
              <a:lnSpc>
                <a:spcPct val="90000"/>
              </a:lnSpc>
            </a:pPr>
            <a:r>
              <a:rPr lang="en-US" altLang="ko-KR" dirty="0">
                <a:latin typeface="+mn-ea"/>
              </a:rPr>
              <a:t>Variables</a:t>
            </a:r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FBF28040-4192-2C6D-2944-5AB74F50B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38" y="1071563"/>
            <a:ext cx="5072062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DDCA4F7-A40F-0D16-F6F1-876141BEB4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3.6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Sound</a:t>
            </a:r>
            <a:endParaRPr kumimoji="0" lang="ko-KR" altLang="en-US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A283BC5-80CC-9DC6-0B48-C060B67643A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사운드 생성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해제</a:t>
            </a:r>
            <a:r>
              <a:rPr lang="en-US" altLang="ko-KR" dirty="0">
                <a:latin typeface="+mn-ea"/>
              </a:rPr>
              <a:t>: g2_SoundLoad /Release</a:t>
            </a:r>
          </a:p>
          <a:p>
            <a:pPr lvl="1"/>
            <a:r>
              <a:rPr lang="en-US" altLang="ko-KR" dirty="0">
                <a:latin typeface="+mn-ea"/>
              </a:rPr>
              <a:t>wav </a:t>
            </a:r>
            <a:r>
              <a:rPr lang="ko-KR" altLang="en-US" dirty="0">
                <a:latin typeface="+mn-ea"/>
              </a:rPr>
              <a:t>파일만 지원</a:t>
            </a:r>
            <a:endParaRPr lang="en-US" altLang="ko-KR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재생</a:t>
            </a:r>
            <a:r>
              <a:rPr lang="en-US" altLang="ko-KR" dirty="0">
                <a:latin typeface="+mn-ea"/>
              </a:rPr>
              <a:t>: g2_SoundPlay</a:t>
            </a:r>
          </a:p>
          <a:p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멈춤</a:t>
            </a:r>
            <a:r>
              <a:rPr lang="en-US" altLang="ko-KR" dirty="0">
                <a:latin typeface="+mn-ea"/>
              </a:rPr>
              <a:t>: g2_SoundStop</a:t>
            </a: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Reset: g2_SoundReset</a:t>
            </a:r>
          </a:p>
          <a:p>
            <a:pPr lvl="1"/>
            <a:r>
              <a:rPr lang="ko-KR" altLang="en-US" dirty="0">
                <a:latin typeface="+mn-ea"/>
              </a:rPr>
              <a:t>처음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위치로 옮김</a:t>
            </a:r>
            <a:endParaRPr lang="en-US" altLang="ko-KR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실행 중인지 확인</a:t>
            </a:r>
            <a:r>
              <a:rPr lang="en-US" altLang="ko-KR" dirty="0">
                <a:latin typeface="+mn-ea"/>
              </a:rPr>
              <a:t>: g2_SoundIsPlaying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30DFF27-33F5-D1A1-1CE9-E16168B4F8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kumimoji="0" lang="en-GB" altLang="ko-KR" dirty="0">
                <a:solidFill>
                  <a:srgbClr val="FFFFFF"/>
                </a:solidFill>
                <a:latin typeface="+mn-ea"/>
                <a:ea typeface="+mn-ea"/>
              </a:rPr>
              <a:t>3.7 </a:t>
            </a:r>
            <a:r>
              <a:rPr kumimoji="0" lang="en-US" altLang="ko-KR" dirty="0">
                <a:solidFill>
                  <a:srgbClr val="FFFFFF"/>
                </a:solidFill>
                <a:latin typeface="+mn-ea"/>
                <a:ea typeface="+mn-ea"/>
              </a:rPr>
              <a:t>GLC2D Game Library- </a:t>
            </a:r>
            <a:r>
              <a:rPr kumimoji="0" lang="ko-KR" altLang="en-US" dirty="0">
                <a:solidFill>
                  <a:srgbClr val="FFFFFF"/>
                </a:solidFill>
                <a:latin typeface="+mn-ea"/>
                <a:ea typeface="+mn-ea"/>
              </a:rPr>
              <a:t>기타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CBD8CD3-3A43-C320-D72B-DFFFC10DE7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>
                <a:latin typeface="+mn-ea"/>
              </a:rPr>
              <a:t>윈도우 핸들</a:t>
            </a:r>
            <a:r>
              <a:rPr lang="en-US" altLang="ko-KR" sz="2400" dirty="0">
                <a:latin typeface="+mn-ea"/>
              </a:rPr>
              <a:t>: g2_GetHwnd</a:t>
            </a: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+mn-ea"/>
              </a:rPr>
              <a:t>윈도우 크기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스케일</a:t>
            </a:r>
            <a:r>
              <a:rPr lang="en-US" altLang="ko-KR" sz="2400" dirty="0">
                <a:latin typeface="+mn-ea"/>
              </a:rPr>
              <a:t>: g2_</a:t>
            </a:r>
            <a:r>
              <a:rPr lang="ko-KR" altLang="ko-KR" sz="2400" dirty="0" err="1">
                <a:latin typeface="+mn-ea"/>
              </a:rPr>
              <a:t>GetScn</a:t>
            </a:r>
            <a:r>
              <a:rPr lang="en-US" altLang="ko-KR" sz="2400" dirty="0">
                <a:latin typeface="+mn-ea"/>
              </a:rPr>
              <a:t>{</a:t>
            </a:r>
            <a:r>
              <a:rPr lang="ko-KR" altLang="ko-KR" sz="2400" dirty="0" err="1">
                <a:latin typeface="+mn-ea"/>
              </a:rPr>
              <a:t>W</a:t>
            </a:r>
            <a:r>
              <a:rPr lang="en-US" altLang="ko-KR" sz="2400" dirty="0">
                <a:latin typeface="+mn-ea"/>
              </a:rPr>
              <a:t>|</a:t>
            </a:r>
            <a:r>
              <a:rPr lang="en-US" altLang="ko-KR" sz="2400" dirty="0" err="1">
                <a:latin typeface="+mn-ea"/>
              </a:rPr>
              <a:t>H|Scale</a:t>
            </a:r>
            <a:r>
              <a:rPr lang="en-US" altLang="ko-KR" sz="2400" dirty="0">
                <a:latin typeface="+mn-ea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+mn-ea"/>
              </a:rPr>
              <a:t>윈도우 스타일</a:t>
            </a:r>
            <a:r>
              <a:rPr lang="en-US" altLang="ko-KR" sz="2400" dirty="0">
                <a:latin typeface="+mn-ea"/>
              </a:rPr>
              <a:t>: g2_{</a:t>
            </a:r>
            <a:r>
              <a:rPr lang="en-US" altLang="ko-KR" sz="2400" dirty="0" err="1">
                <a:latin typeface="+mn-ea"/>
              </a:rPr>
              <a:t>Set|Get</a:t>
            </a:r>
            <a:r>
              <a:rPr lang="en-US" altLang="ko-KR" sz="2400" dirty="0">
                <a:latin typeface="+mn-ea"/>
              </a:rPr>
              <a:t>}</a:t>
            </a:r>
            <a:r>
              <a:rPr lang="en-US" altLang="ko-KR" sz="2400" dirty="0" err="1">
                <a:latin typeface="+mn-ea"/>
              </a:rPr>
              <a:t>WindowStyle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+mn-ea"/>
              </a:rPr>
              <a:t>Icon </a:t>
            </a:r>
            <a:r>
              <a:rPr lang="ko-KR" altLang="en-US" sz="2400" dirty="0">
                <a:latin typeface="+mn-ea"/>
              </a:rPr>
              <a:t>설정</a:t>
            </a:r>
            <a:r>
              <a:rPr lang="en-US" altLang="ko-KR" sz="2400" dirty="0">
                <a:latin typeface="+mn-ea"/>
              </a:rPr>
              <a:t>: g2_SetWindowIcon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+mn-ea"/>
              </a:rPr>
              <a:t>Clear </a:t>
            </a:r>
            <a:r>
              <a:rPr lang="ko-KR" altLang="en-US" sz="2400" dirty="0">
                <a:latin typeface="+mn-ea"/>
              </a:rPr>
              <a:t>색상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설정</a:t>
            </a:r>
            <a:r>
              <a:rPr lang="en-US" altLang="ko-KR" sz="2400" dirty="0">
                <a:latin typeface="+mn-ea"/>
              </a:rPr>
              <a:t>: g2_{</a:t>
            </a:r>
            <a:r>
              <a:rPr lang="en-US" altLang="ko-KR" sz="2400" dirty="0" err="1">
                <a:latin typeface="+mn-ea"/>
              </a:rPr>
              <a:t>Set|Get</a:t>
            </a:r>
            <a:r>
              <a:rPr lang="en-US" altLang="ko-KR" sz="2400" dirty="0">
                <a:latin typeface="+mn-ea"/>
              </a:rPr>
              <a:t>}</a:t>
            </a:r>
            <a:r>
              <a:rPr lang="en-US" altLang="ko-KR" sz="2400" dirty="0" err="1">
                <a:latin typeface="+mn-ea"/>
              </a:rPr>
              <a:t>ClearColor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+mn-ea"/>
              </a:rPr>
              <a:t>상태 보이기</a:t>
            </a:r>
            <a:r>
              <a:rPr lang="en-US" altLang="ko-KR" sz="2400" dirty="0">
                <a:latin typeface="+mn-ea"/>
              </a:rPr>
              <a:t>: g2_</a:t>
            </a:r>
            <a:r>
              <a:rPr lang="ko-KR" altLang="ko-KR" sz="2400" dirty="0" err="1">
                <a:latin typeface="+mn-ea"/>
              </a:rPr>
              <a:t>SetStateShow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+mn-ea"/>
              </a:rPr>
              <a:t>마우스 숨기기</a:t>
            </a:r>
            <a:r>
              <a:rPr lang="en-US" altLang="ko-KR" sz="2400" dirty="0">
                <a:latin typeface="+mn-ea"/>
              </a:rPr>
              <a:t>: g2_SetCursorShow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12700" cap="rnd" cmpd="sng" algn="ctr">
          <a:solidFill>
            <a:srgbClr val="800000"/>
          </a:solidFill>
          <a:prstDash val="sysDot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12700" cap="rnd" cmpd="sng" algn="ctr">
          <a:solidFill>
            <a:srgbClr val="800000"/>
          </a:solidFill>
          <a:prstDash val="sysDot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10101</TotalTime>
  <Words>1133</Words>
  <Application>Microsoft Office PowerPoint</Application>
  <PresentationFormat>A4 용지(210x297mm)</PresentationFormat>
  <Paragraphs>307</Paragraphs>
  <Slides>30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HY견고딕</vt:lpstr>
      <vt:lpstr>HY타자전각M</vt:lpstr>
      <vt:lpstr>HY헤드라인M</vt:lpstr>
      <vt:lpstr>가을체</vt:lpstr>
      <vt:lpstr>굴림</vt:lpstr>
      <vt:lpstr>나눔고딕 ExtraBold</vt:lpstr>
      <vt:lpstr>나눔바른고딕</vt:lpstr>
      <vt:lpstr>Bodoni MT Black</vt:lpstr>
      <vt:lpstr>Wingdings</vt:lpstr>
      <vt:lpstr>기본 디자인</vt:lpstr>
      <vt:lpstr>GLC2D Game Library를 사용한 2D Game 제작</vt:lpstr>
      <vt:lpstr>0. 목차</vt:lpstr>
      <vt:lpstr>PowerPoint 프레젠테이션</vt:lpstr>
      <vt:lpstr>1.2 Software Developing Flow</vt:lpstr>
      <vt:lpstr>1.2 Software Developing Flow</vt:lpstr>
      <vt:lpstr>1.2 Software Developing Flow</vt:lpstr>
      <vt:lpstr>1.2 Software Developing Flow</vt:lpstr>
      <vt:lpstr>1.2 Software Developing Flow</vt:lpstr>
      <vt:lpstr>PowerPoint 프레젠테이션</vt:lpstr>
      <vt:lpstr>2.1 Game Components 종류</vt:lpstr>
      <vt:lpstr>2.2 Game Components - Graphics</vt:lpstr>
      <vt:lpstr>2.3 Game Components - Input</vt:lpstr>
      <vt:lpstr>2.4 Game Components - Media</vt:lpstr>
      <vt:lpstr>2.5 Game Components - Font</vt:lpstr>
      <vt:lpstr>2.6 Game Components - Network</vt:lpstr>
      <vt:lpstr>2.6 Game Components - Network</vt:lpstr>
      <vt:lpstr>2.7 Game Components - Data</vt:lpstr>
      <vt:lpstr>PowerPoint 프레젠테이션</vt:lpstr>
      <vt:lpstr>3.1 GLC2D Game Library- System</vt:lpstr>
      <vt:lpstr>3.1 GLC2D Game Library - 설치</vt:lpstr>
      <vt:lpstr>3.1 GLC2D Game Library- System</vt:lpstr>
      <vt:lpstr>3.2 GLC2D Game Library- Texture</vt:lpstr>
      <vt:lpstr>3.2 GLC2D Game Library- Texture</vt:lpstr>
      <vt:lpstr>3.2 GLC2D Game Library- Texture</vt:lpstr>
      <vt:lpstr>3.3 GLC2D Game Library- Input: Mouse</vt:lpstr>
      <vt:lpstr>3.3 GLC2D Game Library- Input: Keyboard</vt:lpstr>
      <vt:lpstr>3.4 GLC2D Game Library- Animation</vt:lpstr>
      <vt:lpstr>3.5 GLC2D Game Library- Font</vt:lpstr>
      <vt:lpstr>3.6 GLC2D Game Library- Sound</vt:lpstr>
      <vt:lpstr>3.7 GLC2D Game Library- 기타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633</cp:revision>
  <dcterms:created xsi:type="dcterms:W3CDTF">2003-11-30T16:03:20Z</dcterms:created>
  <dcterms:modified xsi:type="dcterms:W3CDTF">2026-08-09T01:23:26Z</dcterms:modified>
</cp:coreProperties>
</file>